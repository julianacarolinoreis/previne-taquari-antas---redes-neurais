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1383625" cy="36936363"/>
  <p:notesSz cx="6858000" cy="9144000"/>
  <p:embeddedFontLst>
    <p:embeddedFont>
      <p:font typeface="Montserrat Bold" panose="020B0604020202020204" charset="0"/>
      <p:regular r:id="rId3"/>
      <p:bold r:id="rId4"/>
    </p:embeddedFont>
    <p:embeddedFont>
      <p:font typeface="Montserrat Medium" panose="00000600000000000000" pitchFamily="2" charset="0"/>
      <p:regular r:id="rId5"/>
      <p: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798" y="-8880"/>
      </p:cViewPr>
      <p:guideLst>
        <p:guide orient="horz" pos="202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94392"/>
            <a:ext cx="7772400" cy="1376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8055"/>
            <a:ext cx="6400800" cy="164069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25507"/>
            <a:ext cx="7772400" cy="127510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721111"/>
            <a:ext cx="7772400" cy="140439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98023"/>
            <a:ext cx="4038600" cy="42369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98023"/>
            <a:ext cx="4038600" cy="42369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37092"/>
            <a:ext cx="4040188" cy="598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36003"/>
            <a:ext cx="4040188" cy="369898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437092"/>
            <a:ext cx="4041775" cy="598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036003"/>
            <a:ext cx="4041775" cy="369898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55615"/>
            <a:ext cx="3008313" cy="10878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55615"/>
            <a:ext cx="5111750" cy="5479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343465"/>
            <a:ext cx="3008313" cy="43915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494068"/>
            <a:ext cx="5486400" cy="5305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73648"/>
            <a:ext cx="5486400" cy="38520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024618"/>
            <a:ext cx="5486400" cy="75346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57102"/>
            <a:ext cx="2057400" cy="5477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57102"/>
            <a:ext cx="6019800" cy="5477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57102"/>
            <a:ext cx="8229600" cy="1070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98023"/>
            <a:ext cx="8229600" cy="4236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950479"/>
            <a:ext cx="2133600" cy="3418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950479"/>
            <a:ext cx="2895600" cy="3418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950479"/>
            <a:ext cx="2133600" cy="3418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D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5646" y="5125261"/>
            <a:ext cx="20559580" cy="30703757"/>
          </a:xfrm>
          <a:custGeom>
            <a:avLst/>
            <a:gdLst/>
            <a:ahLst/>
            <a:cxnLst/>
            <a:rect l="l" t="t" r="r" b="b"/>
            <a:pathLst>
              <a:path w="20559580" h="31027606">
                <a:moveTo>
                  <a:pt x="0" y="0"/>
                </a:moveTo>
                <a:lnTo>
                  <a:pt x="20559580" y="0"/>
                </a:lnTo>
                <a:lnTo>
                  <a:pt x="20559580" y="31027606"/>
                </a:lnTo>
                <a:lnTo>
                  <a:pt x="0" y="31027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8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33162109"/>
            <a:ext cx="21372000" cy="3774254"/>
          </a:xfrm>
          <a:custGeom>
            <a:avLst/>
            <a:gdLst/>
            <a:ahLst/>
            <a:cxnLst/>
            <a:rect l="l" t="t" r="r" b="b"/>
            <a:pathLst>
              <a:path w="21372000" h="3774254">
                <a:moveTo>
                  <a:pt x="0" y="0"/>
                </a:moveTo>
                <a:lnTo>
                  <a:pt x="21372000" y="0"/>
                </a:lnTo>
                <a:lnTo>
                  <a:pt x="21372000" y="3774254"/>
                </a:lnTo>
                <a:lnTo>
                  <a:pt x="0" y="3774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10717"/>
            <a:ext cx="21372000" cy="2259069"/>
          </a:xfrm>
          <a:custGeom>
            <a:avLst/>
            <a:gdLst/>
            <a:ahLst/>
            <a:cxnLst/>
            <a:rect l="l" t="t" r="r" b="b"/>
            <a:pathLst>
              <a:path w="21372000" h="2259069">
                <a:moveTo>
                  <a:pt x="0" y="0"/>
                </a:moveTo>
                <a:lnTo>
                  <a:pt x="21372000" y="0"/>
                </a:lnTo>
                <a:lnTo>
                  <a:pt x="21372000" y="2259069"/>
                </a:lnTo>
                <a:lnTo>
                  <a:pt x="0" y="2259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273" b="-227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063313" y="1369330"/>
            <a:ext cx="442955" cy="2702024"/>
          </a:xfrm>
          <a:custGeom>
            <a:avLst/>
            <a:gdLst/>
            <a:ahLst/>
            <a:cxnLst/>
            <a:rect l="l" t="t" r="r" b="b"/>
            <a:pathLst>
              <a:path w="442955" h="2702024">
                <a:moveTo>
                  <a:pt x="0" y="0"/>
                </a:moveTo>
                <a:lnTo>
                  <a:pt x="442955" y="0"/>
                </a:lnTo>
                <a:lnTo>
                  <a:pt x="442955" y="2702024"/>
                </a:lnTo>
                <a:lnTo>
                  <a:pt x="0" y="27020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03812" y="5402413"/>
            <a:ext cx="1920239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4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REDES NEURAIS ARTIFICIAIS PARA PREVISÃO DE CHEIAS NO RIO TAQUARI, MUNICÍPIO DE SANTA TEREZA, RS </a:t>
            </a:r>
            <a:endParaRPr lang="en-US" sz="4800" b="1" dirty="0">
              <a:solidFill>
                <a:schemeClr val="tx2"/>
              </a:solidFill>
              <a:latin typeface="Arial" panose="020B0604020202020204" pitchFamily="34" charset="0"/>
              <a:ea typeface="Montaser Arabic Semi-Bold"/>
              <a:cs typeface="Arial" panose="020B0604020202020204" pitchFamily="34" charset="0"/>
              <a:sym typeface="Montaser Arabic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03812" y="6992298"/>
            <a:ext cx="19224000" cy="764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0" i="0" dirty="0">
                <a:solidFill>
                  <a:srgbClr val="003C64"/>
                </a:solidFill>
                <a:latin typeface="Arial"/>
              </a:rPr>
              <a:t>Juliana Carolino Reis, Guilherme Garcia de Oliveira, Fernanda Vier Jung e Josiane Leci Vanin Barbieri</a:t>
            </a:r>
          </a:p>
          <a:p>
            <a:pPr algn="ctr">
              <a:spcBef>
                <a:spcPts val="400"/>
              </a:spcBef>
            </a:pPr>
            <a:r>
              <a:rPr sz="1900" b="0" i="0" dirty="0" err="1">
                <a:solidFill>
                  <a:srgbClr val="5B6573"/>
                </a:solidFill>
                <a:latin typeface="Arial"/>
              </a:rPr>
              <a:t>Universidade</a:t>
            </a:r>
            <a:r>
              <a:rPr sz="1900" b="0" i="0" dirty="0">
                <a:solidFill>
                  <a:srgbClr val="5B6573"/>
                </a:solidFill>
                <a:latin typeface="Arial"/>
              </a:rPr>
              <a:t> Federal do Rio Grande do Sul (UFRGS) – Centro Estadual de </a:t>
            </a:r>
            <a:r>
              <a:rPr sz="1900" b="0" i="0" dirty="0" err="1">
                <a:solidFill>
                  <a:srgbClr val="5B6573"/>
                </a:solidFill>
                <a:latin typeface="Arial"/>
              </a:rPr>
              <a:t>Pesquisas</a:t>
            </a:r>
            <a:r>
              <a:rPr sz="1900" b="0" i="0" dirty="0">
                <a:solidFill>
                  <a:srgbClr val="5B6573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5B6573"/>
                </a:solidFill>
                <a:latin typeface="Arial"/>
              </a:rPr>
              <a:t>em</a:t>
            </a:r>
            <a:r>
              <a:rPr sz="1900" b="0" i="0" dirty="0">
                <a:solidFill>
                  <a:srgbClr val="5B6573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5B6573"/>
                </a:solidFill>
                <a:latin typeface="Arial"/>
              </a:rPr>
              <a:t>Sensoriamento</a:t>
            </a:r>
            <a:r>
              <a:rPr sz="1900" b="0" i="0" dirty="0">
                <a:solidFill>
                  <a:srgbClr val="5B6573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5B6573"/>
                </a:solidFill>
                <a:latin typeface="Arial"/>
              </a:rPr>
              <a:t>Remoto</a:t>
            </a:r>
            <a:r>
              <a:rPr sz="1900" b="0" i="0" dirty="0">
                <a:solidFill>
                  <a:srgbClr val="5B6573"/>
                </a:solidFill>
                <a:latin typeface="Arial"/>
              </a:rPr>
              <a:t> e </a:t>
            </a:r>
            <a:r>
              <a:rPr sz="1900" b="0" i="0" dirty="0" err="1">
                <a:solidFill>
                  <a:srgbClr val="5B6573"/>
                </a:solidFill>
                <a:latin typeface="Arial"/>
              </a:rPr>
              <a:t>Meteorologia</a:t>
            </a:r>
            <a:r>
              <a:rPr sz="1900" b="0" i="0" dirty="0">
                <a:solidFill>
                  <a:srgbClr val="5B6573"/>
                </a:solidFill>
                <a:latin typeface="Arial"/>
              </a:rPr>
              <a:t> (CEPSRM)  ·  julianacarolinoreis@gmail.com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26588" y="1175352"/>
            <a:ext cx="13794084" cy="4339367"/>
            <a:chOff x="0" y="0"/>
            <a:chExt cx="18392113" cy="57858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32758" cy="5785823"/>
            </a:xfrm>
            <a:custGeom>
              <a:avLst/>
              <a:gdLst/>
              <a:ahLst/>
              <a:cxnLst/>
              <a:rect l="l" t="t" r="r" b="b"/>
              <a:pathLst>
                <a:path w="8632758" h="5785823">
                  <a:moveTo>
                    <a:pt x="0" y="0"/>
                  </a:moveTo>
                  <a:lnTo>
                    <a:pt x="8632758" y="0"/>
                  </a:lnTo>
                  <a:lnTo>
                    <a:pt x="8632758" y="5785823"/>
                  </a:lnTo>
                  <a:lnTo>
                    <a:pt x="0" y="5785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8575" b="-30153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3873399" y="1426401"/>
              <a:ext cx="2788615" cy="1344228"/>
            </a:xfrm>
            <a:custGeom>
              <a:avLst/>
              <a:gdLst/>
              <a:ahLst/>
              <a:cxnLst/>
              <a:rect l="l" t="t" r="r" b="b"/>
              <a:pathLst>
                <a:path w="2788615" h="1344228">
                  <a:moveTo>
                    <a:pt x="0" y="0"/>
                  </a:moveTo>
                  <a:lnTo>
                    <a:pt x="2788615" y="0"/>
                  </a:lnTo>
                  <a:lnTo>
                    <a:pt x="2788615" y="1344229"/>
                  </a:lnTo>
                  <a:lnTo>
                    <a:pt x="0" y="1344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609" r="-3609"/>
              </a:stretch>
            </a:blipFill>
          </p:spPr>
        </p:sp>
        <p:grpSp>
          <p:nvGrpSpPr>
            <p:cNvPr id="11" name="Group 11"/>
            <p:cNvGrpSpPr/>
            <p:nvPr/>
          </p:nvGrpSpPr>
          <p:grpSpPr>
            <a:xfrm>
              <a:off x="3279381" y="2419016"/>
              <a:ext cx="7030617" cy="1970008"/>
              <a:chOff x="0" y="0"/>
              <a:chExt cx="1480056" cy="41471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480056" cy="414718"/>
              </a:xfrm>
              <a:custGeom>
                <a:avLst/>
                <a:gdLst/>
                <a:ahLst/>
                <a:cxnLst/>
                <a:rect l="l" t="t" r="r" b="b"/>
                <a:pathLst>
                  <a:path w="1480056" h="414718">
                    <a:moveTo>
                      <a:pt x="0" y="0"/>
                    </a:moveTo>
                    <a:lnTo>
                      <a:pt x="1480056" y="0"/>
                    </a:lnTo>
                    <a:lnTo>
                      <a:pt x="1480056" y="414718"/>
                    </a:lnTo>
                    <a:lnTo>
                      <a:pt x="0" y="414718"/>
                    </a:lnTo>
                    <a:close/>
                  </a:path>
                </a:pathLst>
              </a:custGeom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1480056" cy="433768"/>
              </a:xfrm>
              <a:prstGeom prst="rect">
                <a:avLst/>
              </a:prstGeom>
            </p:spPr>
            <p:txBody>
              <a:bodyPr lIns="44264" tIns="44264" rIns="44264" bIns="44264" rtlCol="0" anchor="ctr"/>
              <a:lstStyle/>
              <a:p>
                <a:pPr algn="ctr">
                  <a:lnSpc>
                    <a:spcPts val="623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4316379" y="3865402"/>
              <a:ext cx="9897453" cy="530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142"/>
                </a:lnSpc>
                <a:spcBef>
                  <a:spcPct val="0"/>
                </a:spcBef>
              </a:pPr>
              <a:r>
                <a:rPr lang="en-US" sz="2708" b="1" spc="-100" dirty="0">
                  <a:solidFill>
                    <a:srgbClr val="036CB5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26 a 30 de Outubro de 2026 | Fortaleza - 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6379" y="2493325"/>
              <a:ext cx="14075734" cy="601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59"/>
                </a:lnSpc>
              </a:pPr>
              <a:r>
                <a:rPr lang="en-US" sz="3603" b="1" spc="-180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 Encontro Nacional de Desastres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6379" y="3215544"/>
              <a:ext cx="14075734" cy="601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59"/>
                </a:lnSpc>
              </a:pPr>
              <a:r>
                <a:rPr lang="en-US" sz="3603" b="1" spc="-180" dirty="0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II </a:t>
              </a:r>
              <a:r>
                <a:rPr lang="en-US" sz="3603" b="1" spc="-180" dirty="0" err="1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Encontro</a:t>
              </a:r>
              <a:r>
                <a:rPr lang="en-US" sz="3603" b="1" spc="-180" dirty="0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3603" b="1" spc="-180" dirty="0" err="1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Brasileiro</a:t>
              </a:r>
              <a:r>
                <a:rPr lang="en-US" sz="3603" b="1" spc="-180" dirty="0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de </a:t>
              </a:r>
              <a:r>
                <a:rPr lang="en-US" sz="3603" b="1" spc="-180" dirty="0" err="1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Hidrologia</a:t>
              </a:r>
              <a:r>
                <a:rPr lang="en-US" sz="3603" b="1" spc="-180" dirty="0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3603" b="1" spc="-180" dirty="0" err="1">
                  <a:solidFill>
                    <a:srgbClr val="2A378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Estatística</a:t>
              </a:r>
              <a:endParaRPr lang="en-US" sz="3603" b="1" spc="-180" dirty="0">
                <a:solidFill>
                  <a:srgbClr val="2A378D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4506267" y="1932185"/>
            <a:ext cx="6150770" cy="3127980"/>
          </a:xfrm>
          <a:custGeom>
            <a:avLst/>
            <a:gdLst/>
            <a:ahLst/>
            <a:cxnLst/>
            <a:rect l="l" t="t" r="r" b="b"/>
            <a:pathLst>
              <a:path w="6150770" h="3127980">
                <a:moveTo>
                  <a:pt x="0" y="0"/>
                </a:moveTo>
                <a:lnTo>
                  <a:pt x="6150770" y="0"/>
                </a:lnTo>
                <a:lnTo>
                  <a:pt x="6150770" y="3127980"/>
                </a:lnTo>
                <a:lnTo>
                  <a:pt x="0" y="31279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0256" r="-4529"/>
            </a:stretch>
          </a:blipFill>
        </p:spPr>
      </p:sp>
      <p:sp>
        <p:nvSpPr>
          <p:cNvPr id="18" name="Secao INTRODUÇÃO"/>
          <p:cNvSpPr/>
          <p:nvPr/>
        </p:nvSpPr>
        <p:spPr>
          <a:xfrm>
            <a:off x="985935" y="8462818"/>
            <a:ext cx="3456000" cy="504000"/>
          </a:xfrm>
          <a:prstGeom prst="roundRect">
            <a:avLst>
              <a:gd name="adj" fmla="val 50000"/>
            </a:avLst>
          </a:prstGeom>
          <a:solidFill>
            <a:srgbClr val="2A3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2000" tIns="0" rIns="252000" bIns="0" rtlCol="0" anchor="ctr"/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Arial"/>
              </a:rPr>
              <a:t>INTRODUÇÃO</a:t>
            </a:r>
          </a:p>
        </p:txBody>
      </p:sp>
      <p:sp>
        <p:nvSpPr>
          <p:cNvPr id="19" name="Texto introducao"/>
          <p:cNvSpPr txBox="1"/>
          <p:nvPr/>
        </p:nvSpPr>
        <p:spPr>
          <a:xfrm>
            <a:off x="985935" y="9206844"/>
            <a:ext cx="9360000" cy="2585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600"/>
              </a:spcAft>
            </a:pP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cheias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2023 e 2024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bacia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Taquari-Antas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mostraram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necessidade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previsões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nível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antecedência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útil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o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alerta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Este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trabalho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Redes </a:t>
            </a:r>
            <a:r>
              <a:rPr sz="2400" b="1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Neurais</a:t>
            </a:r>
            <a:r>
              <a:rPr sz="2400" b="1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Artificiais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Perceptron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Multicamadas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(MLP) para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prever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nível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rio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Taquari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Santa Tereza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sz="2400" b="1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 4 e 8 horas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400" b="0" i="0" dirty="0" err="1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antecedência</a:t>
            </a:r>
            <a:r>
              <a:rPr lang="pt-BR" sz="240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 rede neural aqui utilizada,</a:t>
            </a:r>
            <a:r>
              <a:rPr sz="2400" b="0" i="0" dirty="0">
                <a:solidFill>
                  <a:srgbClr val="1F26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tem como variável dependente a diferença de nível nos horizontes temporais. </a:t>
            </a:r>
            <a:endParaRPr sz="2400" b="0" i="0" dirty="0">
              <a:solidFill>
                <a:srgbClr val="1F26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ecao ÁREA DE ESTUDO E DADOS"/>
          <p:cNvSpPr/>
          <p:nvPr/>
        </p:nvSpPr>
        <p:spPr>
          <a:xfrm>
            <a:off x="1080000" y="12348000"/>
            <a:ext cx="6652800" cy="504000"/>
          </a:xfrm>
          <a:prstGeom prst="roundRect">
            <a:avLst>
              <a:gd name="adj" fmla="val 50000"/>
            </a:avLst>
          </a:prstGeom>
          <a:solidFill>
            <a:srgbClr val="2A3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2000" tIns="0" rIns="252000" bIns="0" rtlCol="0" anchor="ctr"/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ÁREA DE ESTUDO E DADOS</a:t>
            </a:r>
          </a:p>
        </p:txBody>
      </p:sp>
      <p:sp>
        <p:nvSpPr>
          <p:cNvPr id="21" name="Texto area de estudo"/>
          <p:cNvSpPr txBox="1"/>
          <p:nvPr/>
        </p:nvSpPr>
        <p:spPr>
          <a:xfrm>
            <a:off x="1080000" y="13032000"/>
            <a:ext cx="9360000" cy="18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2000" indent="-252000" algn="l">
              <a:lnSpc>
                <a:spcPct val="108000"/>
              </a:lnSpc>
              <a:spcAft>
                <a:spcPts val="600"/>
              </a:spcAft>
              <a:buClr>
                <a:srgbClr val="D9661F"/>
              </a:buClr>
              <a:buFont typeface="Arial"/>
              <a:buChar char="■"/>
            </a:pPr>
            <a:r>
              <a:rPr sz="2400" b="0" i="0" dirty="0">
                <a:solidFill>
                  <a:srgbClr val="1F2633"/>
                </a:solidFill>
                <a:latin typeface="Arial"/>
              </a:rPr>
              <a:t>Bacia do </a:t>
            </a:r>
            <a:r>
              <a:rPr sz="2400" b="0" i="0" dirty="0" err="1">
                <a:solidFill>
                  <a:srgbClr val="1F2633"/>
                </a:solidFill>
                <a:latin typeface="Arial"/>
              </a:rPr>
              <a:t>rio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 Taquari </a:t>
            </a:r>
            <a:r>
              <a:rPr sz="2400" b="0" i="0" dirty="0" err="1">
                <a:solidFill>
                  <a:srgbClr val="1F2633"/>
                </a:solidFill>
                <a:latin typeface="Arial"/>
              </a:rPr>
              <a:t>até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 a </a:t>
            </a:r>
            <a:r>
              <a:rPr sz="2400" b="0" i="0" dirty="0" err="1">
                <a:solidFill>
                  <a:srgbClr val="1F2633"/>
                </a:solidFill>
                <a:latin typeface="Arial"/>
              </a:rPr>
              <a:t>estação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 86472600 (≈15.800 km²)</a:t>
            </a:r>
          </a:p>
          <a:p>
            <a:pPr marL="252000" indent="-252000" algn="l">
              <a:lnSpc>
                <a:spcPct val="108000"/>
              </a:lnSpc>
              <a:spcAft>
                <a:spcPts val="600"/>
              </a:spcAft>
              <a:buClr>
                <a:srgbClr val="D9661F"/>
              </a:buClr>
              <a:buFont typeface="Arial"/>
              <a:buChar char="■"/>
            </a:pPr>
            <a:r>
              <a:rPr sz="2400" b="0" i="0" dirty="0">
                <a:solidFill>
                  <a:srgbClr val="1F2633"/>
                </a:solidFill>
                <a:latin typeface="Arial"/>
              </a:rPr>
              <a:t>Dados </a:t>
            </a:r>
            <a:r>
              <a:rPr sz="2400" b="0" i="0" dirty="0" err="1">
                <a:solidFill>
                  <a:srgbClr val="1F2633"/>
                </a:solidFill>
                <a:latin typeface="Arial"/>
              </a:rPr>
              <a:t>horários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 de </a:t>
            </a:r>
            <a:r>
              <a:rPr sz="2400" b="0" i="0" dirty="0" err="1">
                <a:solidFill>
                  <a:srgbClr val="1F2633"/>
                </a:solidFill>
                <a:latin typeface="Arial"/>
              </a:rPr>
              <a:t>nível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 e </a:t>
            </a:r>
            <a:r>
              <a:rPr sz="2400" b="0" i="0" dirty="0" err="1">
                <a:solidFill>
                  <a:srgbClr val="1F2633"/>
                </a:solidFill>
                <a:latin typeface="Arial"/>
              </a:rPr>
              <a:t>chuva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 (2022–2025) do portal </a:t>
            </a:r>
            <a:r>
              <a:rPr sz="2400" b="0" i="0" dirty="0" err="1">
                <a:solidFill>
                  <a:srgbClr val="1F2633"/>
                </a:solidFill>
                <a:latin typeface="Arial"/>
              </a:rPr>
              <a:t>HidroTelemetria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 (ANA/SGB)</a:t>
            </a:r>
          </a:p>
          <a:p>
            <a:pPr marL="252000" indent="-252000" algn="l">
              <a:lnSpc>
                <a:spcPct val="108000"/>
              </a:lnSpc>
              <a:spcAft>
                <a:spcPts val="600"/>
              </a:spcAft>
              <a:buClr>
                <a:srgbClr val="D9661F"/>
              </a:buClr>
              <a:buFont typeface="Arial"/>
              <a:buChar char="■"/>
            </a:pPr>
            <a:r>
              <a:rPr sz="2400" b="0" i="0" dirty="0" err="1">
                <a:solidFill>
                  <a:srgbClr val="1F2633"/>
                </a:solidFill>
                <a:latin typeface="Arial"/>
              </a:rPr>
              <a:t>Amostras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F2633"/>
                </a:solidFill>
                <a:latin typeface="Arial"/>
              </a:rPr>
              <a:t>agrupadas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F2633"/>
                </a:solidFill>
                <a:latin typeface="Arial"/>
              </a:rPr>
              <a:t>por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2633"/>
                </a:solidFill>
                <a:latin typeface="Arial"/>
              </a:rPr>
              <a:t>eventos</a:t>
            </a:r>
            <a:r>
              <a:rPr sz="2400" b="1" i="0" dirty="0">
                <a:solidFill>
                  <a:srgbClr val="1F2633"/>
                </a:solidFill>
                <a:latin typeface="Arial"/>
              </a:rPr>
              <a:t> de </a:t>
            </a:r>
            <a:r>
              <a:rPr sz="2400" b="1" i="0" dirty="0" err="1">
                <a:solidFill>
                  <a:srgbClr val="1F2633"/>
                </a:solidFill>
                <a:latin typeface="Arial"/>
              </a:rPr>
              <a:t>cheia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, </a:t>
            </a:r>
            <a:r>
              <a:rPr sz="2400" b="0" i="0" dirty="0" err="1">
                <a:solidFill>
                  <a:srgbClr val="1F2633"/>
                </a:solidFill>
                <a:latin typeface="Arial"/>
              </a:rPr>
              <a:t>separados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F2633"/>
                </a:solidFill>
                <a:latin typeface="Arial"/>
              </a:rPr>
              <a:t>em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F2633"/>
                </a:solidFill>
                <a:latin typeface="Arial"/>
              </a:rPr>
              <a:t>treino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, </a:t>
            </a:r>
            <a:r>
              <a:rPr sz="2400" b="0" i="0" dirty="0" err="1">
                <a:solidFill>
                  <a:srgbClr val="1F2633"/>
                </a:solidFill>
                <a:latin typeface="Arial"/>
              </a:rPr>
              <a:t>validação</a:t>
            </a:r>
            <a:r>
              <a:rPr sz="2400" b="0" i="0" dirty="0">
                <a:solidFill>
                  <a:srgbClr val="1F2633"/>
                </a:solidFill>
                <a:latin typeface="Arial"/>
              </a:rPr>
              <a:t> e teste</a:t>
            </a:r>
          </a:p>
        </p:txBody>
      </p:sp>
      <p:pic>
        <p:nvPicPr>
          <p:cNvPr id="22" name="Mapa da bacia" descr="map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83471" y="8446160"/>
            <a:ext cx="8352000" cy="5720358"/>
          </a:xfrm>
          <a:prstGeom prst="rect">
            <a:avLst/>
          </a:prstGeom>
        </p:spPr>
      </p:pic>
      <p:sp>
        <p:nvSpPr>
          <p:cNvPr id="23" name="Legenda mapa"/>
          <p:cNvSpPr txBox="1"/>
          <p:nvPr/>
        </p:nvSpPr>
        <p:spPr>
          <a:xfrm>
            <a:off x="11700000" y="14307931"/>
            <a:ext cx="936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 dirty="0" err="1">
                <a:solidFill>
                  <a:srgbClr val="5B6573"/>
                </a:solidFill>
                <a:latin typeface="Arial"/>
              </a:rPr>
              <a:t>Figura</a:t>
            </a:r>
            <a:r>
              <a:rPr sz="1800" b="0" i="0" dirty="0">
                <a:solidFill>
                  <a:srgbClr val="5B6573"/>
                </a:solidFill>
                <a:latin typeface="Arial"/>
              </a:rPr>
              <a:t> 1 – Bacia </a:t>
            </a:r>
            <a:r>
              <a:rPr lang="pt-BR" sz="1800" b="0" i="0" dirty="0">
                <a:solidFill>
                  <a:srgbClr val="5B6573"/>
                </a:solidFill>
                <a:latin typeface="Arial"/>
              </a:rPr>
              <a:t>do Taquari Antas </a:t>
            </a:r>
            <a:r>
              <a:rPr sz="1800" b="0" i="0" dirty="0" err="1">
                <a:solidFill>
                  <a:srgbClr val="5B6573"/>
                </a:solidFill>
                <a:latin typeface="Arial"/>
              </a:rPr>
              <a:t>até</a:t>
            </a:r>
            <a:r>
              <a:rPr sz="1800" b="0" i="0" dirty="0">
                <a:solidFill>
                  <a:srgbClr val="5B6573"/>
                </a:solidFill>
                <a:latin typeface="Arial"/>
              </a:rPr>
              <a:t> Santa Tereza e </a:t>
            </a:r>
            <a:r>
              <a:rPr sz="1800" b="0" i="0" dirty="0" err="1">
                <a:solidFill>
                  <a:srgbClr val="5B6573"/>
                </a:solidFill>
                <a:latin typeface="Arial"/>
              </a:rPr>
              <a:t>postos</a:t>
            </a:r>
            <a:r>
              <a:rPr sz="1800" b="0" i="0" dirty="0">
                <a:solidFill>
                  <a:srgbClr val="5B6573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5B6573"/>
                </a:solidFill>
                <a:latin typeface="Arial"/>
              </a:rPr>
              <a:t>fluviométricos</a:t>
            </a:r>
            <a:r>
              <a:rPr sz="1800" b="0" i="0" dirty="0">
                <a:solidFill>
                  <a:srgbClr val="5B6573"/>
                </a:solidFill>
                <a:latin typeface="Arial"/>
              </a:rPr>
              <a:t>.</a:t>
            </a:r>
          </a:p>
        </p:txBody>
      </p:sp>
      <p:sp>
        <p:nvSpPr>
          <p:cNvPr id="24" name="Secao METODOLOGIA: ABORDAGEM ALTERNATIVA (ALT)"/>
          <p:cNvSpPr/>
          <p:nvPr/>
        </p:nvSpPr>
        <p:spPr>
          <a:xfrm>
            <a:off x="1103812" y="15402633"/>
            <a:ext cx="11448000" cy="504000"/>
          </a:xfrm>
          <a:prstGeom prst="roundRect">
            <a:avLst>
              <a:gd name="adj" fmla="val 50000"/>
            </a:avLst>
          </a:prstGeom>
          <a:solidFill>
            <a:srgbClr val="2A3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2000" tIns="0" rIns="252000" bIns="0" rtlCol="0" anchor="ctr"/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Arial"/>
              </a:rPr>
              <a:t>METODOLOGIA: ABORDAGEM ALTERNATIVA (ALT)</a:t>
            </a:r>
          </a:p>
        </p:txBody>
      </p:sp>
      <p:sp>
        <p:nvSpPr>
          <p:cNvPr id="25" name="Etapa 1"/>
          <p:cNvSpPr/>
          <p:nvPr/>
        </p:nvSpPr>
        <p:spPr>
          <a:xfrm>
            <a:off x="1080000" y="16128000"/>
            <a:ext cx="4248000" cy="1584000"/>
          </a:xfrm>
          <a:prstGeom prst="roundRect">
            <a:avLst>
              <a:gd name="adj" fmla="val 12000"/>
            </a:avLst>
          </a:prstGeom>
          <a:solidFill>
            <a:srgbClr val="E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72000" rIns="144000" bIns="72000" rtlCol="0" anchor="ctr"/>
          <a:lstStyle/>
          <a:p>
            <a:pPr algn="ctr"/>
            <a:r>
              <a:rPr sz="2400" b="1" i="0">
                <a:solidFill>
                  <a:srgbClr val="D9661F"/>
                </a:solidFill>
                <a:latin typeface="Arial"/>
              </a:rPr>
              <a:t>Entradas</a:t>
            </a:r>
          </a:p>
          <a:p>
            <a:pPr algn="ctr"/>
            <a:r>
              <a:rPr sz="1800" b="0" i="0">
                <a:solidFill>
                  <a:srgbClr val="1F2633"/>
                </a:solidFill>
                <a:latin typeface="Arial"/>
              </a:rPr>
              <a:t>níveis, diferenças e acelerações em Santa Tereza e a montante; chuva acumulada</a:t>
            </a:r>
          </a:p>
        </p:txBody>
      </p:sp>
      <p:sp>
        <p:nvSpPr>
          <p:cNvPr id="26" name="Seta 1"/>
          <p:cNvSpPr/>
          <p:nvPr/>
        </p:nvSpPr>
        <p:spPr>
          <a:xfrm>
            <a:off x="5436000" y="16704000"/>
            <a:ext cx="504000" cy="432000"/>
          </a:xfrm>
          <a:prstGeom prst="rightArrow">
            <a:avLst/>
          </a:prstGeom>
          <a:solidFill>
            <a:srgbClr val="D9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Etapa 2"/>
          <p:cNvSpPr/>
          <p:nvPr/>
        </p:nvSpPr>
        <p:spPr>
          <a:xfrm>
            <a:off x="6048000" y="16128000"/>
            <a:ext cx="4248000" cy="1584000"/>
          </a:xfrm>
          <a:prstGeom prst="roundRect">
            <a:avLst>
              <a:gd name="adj" fmla="val 12000"/>
            </a:avLst>
          </a:prstGeom>
          <a:solidFill>
            <a:srgbClr val="E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72000" rIns="144000" bIns="72000" rtlCol="0" anchor="ctr"/>
          <a:lstStyle/>
          <a:p>
            <a:pPr algn="ctr"/>
            <a:r>
              <a:rPr sz="2400" b="1" i="0">
                <a:solidFill>
                  <a:srgbClr val="D9661F"/>
                </a:solidFill>
                <a:latin typeface="Arial"/>
              </a:rPr>
              <a:t>RNA MLP</a:t>
            </a:r>
          </a:p>
          <a:p>
            <a:pPr algn="ctr"/>
            <a:r>
              <a:rPr sz="1800" b="0" i="0">
                <a:solidFill>
                  <a:srgbClr val="1F2633"/>
                </a:solidFill>
                <a:latin typeface="Arial"/>
              </a:rPr>
              <a:t>1 camada oculta · sigmoide · retropropagação com gradiente adaptativo</a:t>
            </a:r>
          </a:p>
        </p:txBody>
      </p:sp>
      <p:sp>
        <p:nvSpPr>
          <p:cNvPr id="28" name="Seta 2"/>
          <p:cNvSpPr/>
          <p:nvPr/>
        </p:nvSpPr>
        <p:spPr>
          <a:xfrm>
            <a:off x="10404000" y="16704000"/>
            <a:ext cx="504000" cy="432000"/>
          </a:xfrm>
          <a:prstGeom prst="rightArrow">
            <a:avLst/>
          </a:prstGeom>
          <a:solidFill>
            <a:srgbClr val="D9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Etapa 3"/>
          <p:cNvSpPr/>
          <p:nvPr/>
        </p:nvSpPr>
        <p:spPr>
          <a:xfrm>
            <a:off x="11016000" y="16128000"/>
            <a:ext cx="4248000" cy="1584000"/>
          </a:xfrm>
          <a:prstGeom prst="roundRect">
            <a:avLst>
              <a:gd name="adj" fmla="val 12000"/>
            </a:avLst>
          </a:prstGeom>
          <a:solidFill>
            <a:srgbClr val="E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72000" rIns="144000" bIns="72000" rtlCol="0" anchor="ctr"/>
          <a:lstStyle/>
          <a:p>
            <a:pPr algn="ctr"/>
            <a:r>
              <a:rPr sz="2400" b="1" i="0">
                <a:solidFill>
                  <a:srgbClr val="D9661F"/>
                </a:solidFill>
                <a:latin typeface="Arial"/>
              </a:rPr>
              <a:t>Saída da RNA</a:t>
            </a:r>
          </a:p>
          <a:p>
            <a:pPr algn="ctr"/>
            <a:r>
              <a:rPr sz="1800" b="0" i="0">
                <a:solidFill>
                  <a:srgbClr val="1F2633"/>
                </a:solidFill>
                <a:latin typeface="Arial"/>
              </a:rPr>
              <a:t>variação do nível ΔH = H(t+h) − H(t)</a:t>
            </a:r>
          </a:p>
        </p:txBody>
      </p:sp>
      <p:sp>
        <p:nvSpPr>
          <p:cNvPr id="30" name="Seta 3"/>
          <p:cNvSpPr/>
          <p:nvPr/>
        </p:nvSpPr>
        <p:spPr>
          <a:xfrm>
            <a:off x="15372000" y="16704000"/>
            <a:ext cx="504000" cy="432000"/>
          </a:xfrm>
          <a:prstGeom prst="rightArrow">
            <a:avLst/>
          </a:prstGeom>
          <a:solidFill>
            <a:srgbClr val="D9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Etapa 4"/>
          <p:cNvSpPr/>
          <p:nvPr/>
        </p:nvSpPr>
        <p:spPr>
          <a:xfrm>
            <a:off x="15984000" y="16128000"/>
            <a:ext cx="4248000" cy="1584000"/>
          </a:xfrm>
          <a:prstGeom prst="roundRect">
            <a:avLst>
              <a:gd name="adj" fmla="val 12000"/>
            </a:avLst>
          </a:prstGeom>
          <a:solidFill>
            <a:srgbClr val="2A3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72000" rIns="144000" bIns="7200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Nível previsto</a:t>
            </a:r>
          </a:p>
          <a:p>
            <a:pPr algn="ctr"/>
            <a:r>
              <a:rPr sz="1800" b="0" i="0">
                <a:solidFill>
                  <a:srgbClr val="FFFFFF"/>
                </a:solidFill>
                <a:latin typeface="Arial"/>
              </a:rPr>
              <a:t>Ĥ(t+h) = H(t) + ΔH</a:t>
            </a:r>
          </a:p>
        </p:txBody>
      </p:sp>
      <p:sp>
        <p:nvSpPr>
          <p:cNvPr id="32" name="Texto metodologia"/>
          <p:cNvSpPr txBox="1"/>
          <p:nvPr/>
        </p:nvSpPr>
        <p:spPr>
          <a:xfrm>
            <a:off x="1080000" y="18036000"/>
            <a:ext cx="9360000" cy="22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2000" indent="-252000" algn="l">
              <a:lnSpc>
                <a:spcPct val="108000"/>
              </a:lnSpc>
              <a:spcAft>
                <a:spcPts val="400"/>
              </a:spcAft>
              <a:buClr>
                <a:srgbClr val="D9661F"/>
              </a:buClr>
              <a:buFont typeface="Arial"/>
              <a:buChar char="■"/>
            </a:pPr>
            <a:r>
              <a:rPr sz="2000" b="0" i="0">
                <a:solidFill>
                  <a:srgbClr val="1F2633"/>
                </a:solidFill>
                <a:latin typeface="Arial"/>
              </a:rPr>
              <a:t>Neurônios ocultos ≈ 2 × nº de entradas; 10 inicializações por rede</a:t>
            </a:r>
          </a:p>
          <a:p>
            <a:pPr marL="252000" indent="-252000" algn="l">
              <a:lnSpc>
                <a:spcPct val="108000"/>
              </a:lnSpc>
              <a:spcAft>
                <a:spcPts val="400"/>
              </a:spcAft>
              <a:buClr>
                <a:srgbClr val="D9661F"/>
              </a:buClr>
              <a:buFont typeface="Arial"/>
              <a:buChar char="■"/>
            </a:pPr>
            <a:r>
              <a:rPr sz="2000" b="0" i="0">
                <a:solidFill>
                  <a:srgbClr val="1F2633"/>
                </a:solidFill>
                <a:latin typeface="Arial"/>
              </a:rPr>
              <a:t>Entradas escolhidas por algoritmo de busca em Python; redes treinadas no MATLAB</a:t>
            </a:r>
          </a:p>
          <a:p>
            <a:pPr marL="252000" indent="-252000" algn="l">
              <a:lnSpc>
                <a:spcPct val="108000"/>
              </a:lnSpc>
              <a:spcAft>
                <a:spcPts val="400"/>
              </a:spcAft>
              <a:buClr>
                <a:srgbClr val="D9661F"/>
              </a:buClr>
              <a:buFont typeface="Arial"/>
              <a:buChar char="■"/>
            </a:pPr>
            <a:r>
              <a:rPr sz="2000" b="0" i="0">
                <a:solidFill>
                  <a:srgbClr val="1F2633"/>
                </a:solidFill>
                <a:latin typeface="Arial"/>
              </a:rPr>
              <a:t>Avaliação: NSE, PME (ganho sobre a persistência), EAM e E95 (erro não superado em 95%)</a:t>
            </a:r>
          </a:p>
        </p:txBody>
      </p:sp>
      <p:graphicFrame>
        <p:nvGraphicFramePr>
          <p:cNvPr id="33" name="Tabela configuraca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285846"/>
              </p:ext>
            </p:extLst>
          </p:nvPr>
        </p:nvGraphicFramePr>
        <p:xfrm>
          <a:off x="10944000" y="18036000"/>
          <a:ext cx="9360000" cy="1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6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2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5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90000" marR="90000" marT="36000" marB="36000" anchor="ctr">
                    <a:solidFill>
                      <a:srgbClr val="2A37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Entradas</a:t>
                      </a:r>
                    </a:p>
                  </a:txBody>
                  <a:tcPr marL="90000" marR="90000" marT="36000" marB="36000" anchor="ctr">
                    <a:solidFill>
                      <a:srgbClr val="2A37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Neurônios</a:t>
                      </a:r>
                    </a:p>
                  </a:txBody>
                  <a:tcPr marL="90000" marR="90000" marT="36000" marB="36000" anchor="ctr">
                    <a:solidFill>
                      <a:srgbClr val="2A37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Variáveis de entrada</a:t>
                      </a:r>
                    </a:p>
                  </a:txBody>
                  <a:tcPr marL="90000" marR="90000" marT="36000" marB="36000" anchor="ctr">
                    <a:solidFill>
                      <a:srgbClr val="2A37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900" b="1" i="0">
                          <a:solidFill>
                            <a:srgbClr val="1F2633"/>
                          </a:solidFill>
                          <a:latin typeface="Arial"/>
                        </a:rPr>
                        <a:t>ALT 2h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900" b="0" i="0" dirty="0">
                          <a:solidFill>
                            <a:srgbClr val="1F2633"/>
                          </a:solidFill>
                          <a:latin typeface="Arial"/>
                        </a:rPr>
                        <a:t>+ 2 postos a montante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900" b="1" i="0">
                          <a:solidFill>
                            <a:srgbClr val="1F2633"/>
                          </a:solidFill>
                          <a:latin typeface="Arial"/>
                        </a:rPr>
                        <a:t>ALT 4h</a:t>
                      </a:r>
                    </a:p>
                  </a:txBody>
                  <a:tcPr marL="90000" marR="90000" marT="36000" marB="360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90000" marR="90000" marT="36000" marB="360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90000" marR="90000" marT="36000" marB="360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 dirty="0">
                          <a:solidFill>
                            <a:srgbClr val="1F2633"/>
                          </a:solidFill>
                          <a:latin typeface="Arial"/>
                        </a:rPr>
                        <a:t>+ 2 </a:t>
                      </a:r>
                      <a:r>
                        <a:rPr sz="1900" b="0" i="0" dirty="0" err="1">
                          <a:solidFill>
                            <a:srgbClr val="1F2633"/>
                          </a:solidFill>
                          <a:latin typeface="Arial"/>
                        </a:rPr>
                        <a:t>postos</a:t>
                      </a:r>
                      <a:r>
                        <a:rPr sz="1900" b="0" i="0" dirty="0">
                          <a:solidFill>
                            <a:srgbClr val="1F2633"/>
                          </a:solidFill>
                          <a:latin typeface="Arial"/>
                        </a:rPr>
                        <a:t> a </a:t>
                      </a:r>
                      <a:r>
                        <a:rPr sz="1900" b="0" i="0" dirty="0" err="1">
                          <a:solidFill>
                            <a:srgbClr val="1F2633"/>
                          </a:solidFill>
                          <a:latin typeface="Arial"/>
                        </a:rPr>
                        <a:t>montante</a:t>
                      </a:r>
                      <a:endParaRPr sz="1900" b="0" i="0" dirty="0">
                        <a:solidFill>
                          <a:srgbClr val="1F2633"/>
                        </a:solidFill>
                        <a:latin typeface="Arial"/>
                      </a:endParaRPr>
                    </a:p>
                  </a:txBody>
                  <a:tcPr marL="90000" marR="90000" marT="36000" marB="360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900" b="1" i="0">
                          <a:solidFill>
                            <a:srgbClr val="1F2633"/>
                          </a:solidFill>
                          <a:latin typeface="Arial"/>
                        </a:rPr>
                        <a:t>ALT 8h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0" i="0" dirty="0">
                          <a:solidFill>
                            <a:srgbClr val="1F2633"/>
                          </a:solidFill>
                          <a:latin typeface="Arial"/>
                        </a:rPr>
                        <a:t>7 </a:t>
                      </a:r>
                      <a:r>
                        <a:rPr sz="1900" b="0" i="0" dirty="0" err="1">
                          <a:solidFill>
                            <a:srgbClr val="1F2633"/>
                          </a:solidFill>
                          <a:latin typeface="Arial"/>
                        </a:rPr>
                        <a:t>postos</a:t>
                      </a:r>
                      <a:r>
                        <a:rPr sz="1900" b="0" i="0" dirty="0">
                          <a:solidFill>
                            <a:srgbClr val="1F2633"/>
                          </a:solidFill>
                          <a:latin typeface="Arial"/>
                        </a:rPr>
                        <a:t> </a:t>
                      </a:r>
                      <a:r>
                        <a:rPr sz="1900" b="0" i="0" dirty="0" err="1">
                          <a:solidFill>
                            <a:srgbClr val="1F2633"/>
                          </a:solidFill>
                          <a:latin typeface="Arial"/>
                        </a:rPr>
                        <a:t>fluviométricos</a:t>
                      </a:r>
                      <a:r>
                        <a:rPr sz="1900" b="0" i="0" dirty="0">
                          <a:solidFill>
                            <a:srgbClr val="1F2633"/>
                          </a:solidFill>
                          <a:latin typeface="Arial"/>
                        </a:rPr>
                        <a:t> + </a:t>
                      </a:r>
                      <a:r>
                        <a:rPr sz="1900" b="0" i="0" dirty="0" err="1">
                          <a:solidFill>
                            <a:srgbClr val="1F2633"/>
                          </a:solidFill>
                          <a:latin typeface="Arial"/>
                        </a:rPr>
                        <a:t>chuva</a:t>
                      </a:r>
                      <a:endParaRPr sz="1900" b="0" i="0" dirty="0">
                        <a:solidFill>
                          <a:srgbClr val="1F2633"/>
                        </a:solidFill>
                        <a:latin typeface="Arial"/>
                      </a:endParaRP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ecao RESULTADOS"/>
          <p:cNvSpPr/>
          <p:nvPr/>
        </p:nvSpPr>
        <p:spPr>
          <a:xfrm>
            <a:off x="1080000" y="20052000"/>
            <a:ext cx="3456000" cy="504000"/>
          </a:xfrm>
          <a:prstGeom prst="roundRect">
            <a:avLst>
              <a:gd name="adj" fmla="val 50000"/>
            </a:avLst>
          </a:prstGeom>
          <a:solidFill>
            <a:srgbClr val="2A3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2000" tIns="0" rIns="252000" bIns="0" rtlCol="0" anchor="ctr"/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Arial"/>
              </a:rPr>
              <a:t>RESULTADOS</a:t>
            </a:r>
          </a:p>
        </p:txBody>
      </p:sp>
      <p:pic>
        <p:nvPicPr>
          <p:cNvPr id="35" name="Dispersao previsto x observado" descr="dispersa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6000" y="20853110"/>
            <a:ext cx="15480000" cy="5110385"/>
          </a:xfrm>
          <a:prstGeom prst="rect">
            <a:avLst/>
          </a:prstGeom>
        </p:spPr>
      </p:pic>
      <p:sp>
        <p:nvSpPr>
          <p:cNvPr id="36" name="Legenda dispersao"/>
          <p:cNvSpPr txBox="1"/>
          <p:nvPr/>
        </p:nvSpPr>
        <p:spPr>
          <a:xfrm>
            <a:off x="1080000" y="25990385"/>
            <a:ext cx="19224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5B6573"/>
                </a:solidFill>
                <a:latin typeface="Arial"/>
              </a:rPr>
              <a:t>Figura 2 – Nível previsto × observado (série completa) dos modelos ALT ao vivo em Santa Tereza.</a:t>
            </a:r>
          </a:p>
        </p:txBody>
      </p:sp>
      <p:graphicFrame>
        <p:nvGraphicFramePr>
          <p:cNvPr id="37" name="Tabela resultados"/>
          <p:cNvGraphicFramePr>
            <a:graphicFrameLocks noGrp="1"/>
          </p:cNvGraphicFramePr>
          <p:nvPr/>
        </p:nvGraphicFramePr>
        <p:xfrm>
          <a:off x="1080000" y="26386385"/>
          <a:ext cx="9360001" cy="1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9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7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4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Teste</a:t>
                      </a:r>
                    </a:p>
                  </a:txBody>
                  <a:tcPr marL="90000" marR="90000" marT="36000" marB="36000" anchor="ctr">
                    <a:solidFill>
                      <a:srgbClr val="2A37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NSE</a:t>
                      </a:r>
                    </a:p>
                  </a:txBody>
                  <a:tcPr marL="90000" marR="90000" marT="36000" marB="36000" anchor="ctr">
                    <a:solidFill>
                      <a:srgbClr val="2A37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PME</a:t>
                      </a:r>
                    </a:p>
                  </a:txBody>
                  <a:tcPr marL="90000" marR="90000" marT="36000" marB="36000" anchor="ctr">
                    <a:solidFill>
                      <a:srgbClr val="2A37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EAM</a:t>
                      </a:r>
                    </a:p>
                  </a:txBody>
                  <a:tcPr marL="90000" marR="90000" marT="36000" marB="36000" anchor="ctr">
                    <a:solidFill>
                      <a:srgbClr val="2A37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E95</a:t>
                      </a:r>
                    </a:p>
                  </a:txBody>
                  <a:tcPr marL="90000" marR="90000" marT="36000" marB="36000" anchor="ctr">
                    <a:solidFill>
                      <a:srgbClr val="2A37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EAM × persist.</a:t>
                      </a:r>
                    </a:p>
                  </a:txBody>
                  <a:tcPr marL="90000" marR="90000" marT="36000" marB="36000" anchor="ctr">
                    <a:solidFill>
                      <a:srgbClr val="2A37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900" b="1" i="0">
                          <a:solidFill>
                            <a:srgbClr val="1F2633"/>
                          </a:solidFill>
                          <a:latin typeface="Arial"/>
                        </a:rPr>
                        <a:t>ALT 2h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0,996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0,969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3,5 cm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10 cm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−81%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900" b="1" i="0">
                          <a:solidFill>
                            <a:srgbClr val="1F2633"/>
                          </a:solidFill>
                          <a:latin typeface="Arial"/>
                        </a:rPr>
                        <a:t>ALT 4h</a:t>
                      </a:r>
                    </a:p>
                  </a:txBody>
                  <a:tcPr marL="90000" marR="90000" marT="36000" marB="360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0,993</a:t>
                      </a:r>
                    </a:p>
                  </a:txBody>
                  <a:tcPr marL="90000" marR="90000" marT="36000" marB="360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0,878</a:t>
                      </a:r>
                    </a:p>
                  </a:txBody>
                  <a:tcPr marL="90000" marR="90000" marT="36000" marB="360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14,0 cm</a:t>
                      </a:r>
                    </a:p>
                  </a:txBody>
                  <a:tcPr marL="90000" marR="90000" marT="36000" marB="360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59 cm</a:t>
                      </a:r>
                    </a:p>
                  </a:txBody>
                  <a:tcPr marL="90000" marR="90000" marT="36000" marB="36000" anchor="ctr"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−65%</a:t>
                      </a:r>
                    </a:p>
                  </a:txBody>
                  <a:tcPr marL="90000" marR="90000" marT="36000" marB="36000" anchor="ctr">
                    <a:solidFill>
                      <a:srgbClr val="E6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900" b="1" i="0">
                          <a:solidFill>
                            <a:srgbClr val="1F2633"/>
                          </a:solidFill>
                          <a:latin typeface="Arial"/>
                        </a:rPr>
                        <a:t>ALT 8h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0,979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0,927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23,3 cm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64 cm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 i="0">
                          <a:solidFill>
                            <a:srgbClr val="1F2633"/>
                          </a:solidFill>
                          <a:latin typeface="Arial"/>
                        </a:rPr>
                        <a:t>−69%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Legenda tabela"/>
          <p:cNvSpPr txBox="1"/>
          <p:nvPr/>
        </p:nvSpPr>
        <p:spPr>
          <a:xfrm>
            <a:off x="1080000" y="28258385"/>
            <a:ext cx="936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5B6573"/>
                </a:solidFill>
                <a:latin typeface="Arial"/>
              </a:rPr>
              <a:t>Tabela 1 – Desempenho no conjunto de teste (eventos não usados no treinamento).</a:t>
            </a:r>
          </a:p>
        </p:txBody>
      </p:sp>
      <p:sp>
        <p:nvSpPr>
          <p:cNvPr id="39" name="Secao CONCLUSÕES"/>
          <p:cNvSpPr/>
          <p:nvPr/>
        </p:nvSpPr>
        <p:spPr>
          <a:xfrm>
            <a:off x="1103812" y="28677941"/>
            <a:ext cx="3456000" cy="504000"/>
          </a:xfrm>
          <a:prstGeom prst="roundRect">
            <a:avLst>
              <a:gd name="adj" fmla="val 50000"/>
            </a:avLst>
          </a:prstGeom>
          <a:solidFill>
            <a:srgbClr val="2A3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2000" tIns="0" rIns="252000" bIns="0" rtlCol="0" anchor="ctr"/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CONCLUSÕES</a:t>
            </a:r>
          </a:p>
        </p:txBody>
      </p:sp>
      <p:sp>
        <p:nvSpPr>
          <p:cNvPr id="40" name="Texto conclusoes"/>
          <p:cNvSpPr txBox="1"/>
          <p:nvPr/>
        </p:nvSpPr>
        <p:spPr>
          <a:xfrm>
            <a:off x="1080000" y="29550199"/>
            <a:ext cx="9360000" cy="20979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2000" indent="-252000" algn="l">
              <a:lnSpc>
                <a:spcPct val="108000"/>
              </a:lnSpc>
              <a:spcAft>
                <a:spcPts val="500"/>
              </a:spcAft>
              <a:buClr>
                <a:srgbClr val="D9661F"/>
              </a:buClr>
              <a:buFont typeface="Arial"/>
              <a:buChar char="■"/>
            </a:pPr>
            <a:r>
              <a:rPr sz="2000" b="0" i="0" dirty="0">
                <a:solidFill>
                  <a:srgbClr val="1F2633"/>
                </a:solidFill>
                <a:latin typeface="Arial"/>
              </a:rPr>
              <a:t>Nos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três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horizontes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, a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abordagem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alcançou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000" b="1" i="0" dirty="0">
                <a:solidFill>
                  <a:srgbClr val="1F2633"/>
                </a:solidFill>
                <a:latin typeface="Arial"/>
              </a:rPr>
              <a:t>NSE ≥ 0,979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e </a:t>
            </a:r>
            <a:r>
              <a:rPr sz="2000" b="1" i="0" dirty="0">
                <a:solidFill>
                  <a:srgbClr val="1F2633"/>
                </a:solidFill>
                <a:latin typeface="Arial"/>
              </a:rPr>
              <a:t>PME de 0,88 a 0,97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no teste.</a:t>
            </a:r>
          </a:p>
          <a:p>
            <a:pPr marL="252000" indent="-252000" algn="l">
              <a:lnSpc>
                <a:spcPct val="108000"/>
              </a:lnSpc>
              <a:spcAft>
                <a:spcPts val="500"/>
              </a:spcAft>
              <a:buClr>
                <a:srgbClr val="D9661F"/>
              </a:buClr>
              <a:buFont typeface="Arial"/>
              <a:buChar char="■"/>
            </a:pPr>
            <a:r>
              <a:rPr sz="2000" b="0" i="0" dirty="0">
                <a:solidFill>
                  <a:srgbClr val="1F2633"/>
                </a:solidFill>
                <a:latin typeface="Arial"/>
              </a:rPr>
              <a:t>O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erro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médio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cai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65–81%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frente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à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persistência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e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cresce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com a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antecedência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(de 3,5 a 23 cm).</a:t>
            </a:r>
          </a:p>
          <a:p>
            <a:pPr marL="252000" indent="-252000" algn="l">
              <a:lnSpc>
                <a:spcPct val="108000"/>
              </a:lnSpc>
              <a:spcAft>
                <a:spcPts val="500"/>
              </a:spcAft>
              <a:buClr>
                <a:srgbClr val="D9661F"/>
              </a:buClr>
              <a:buFont typeface="Arial"/>
              <a:buChar char="■"/>
            </a:pPr>
            <a:r>
              <a:rPr sz="2000" b="0" i="0" dirty="0">
                <a:solidFill>
                  <a:srgbClr val="1F2633"/>
                </a:solidFill>
                <a:latin typeface="Arial"/>
              </a:rPr>
              <a:t>Em tempo real, o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modelo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2h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acompanhou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a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cheia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de set/2026 com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erro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médio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de 9 cm: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potencial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de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uso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operacional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no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alerta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de Santa Tereza.</a:t>
            </a:r>
          </a:p>
        </p:txBody>
      </p:sp>
      <p:sp>
        <p:nvSpPr>
          <p:cNvPr id="41" name="Secao OPERAÇÃO EM TEMPO REAL"/>
          <p:cNvSpPr/>
          <p:nvPr/>
        </p:nvSpPr>
        <p:spPr>
          <a:xfrm>
            <a:off x="12985894" y="26295714"/>
            <a:ext cx="5996212" cy="333339"/>
          </a:xfrm>
          <a:prstGeom prst="roundRect">
            <a:avLst>
              <a:gd name="adj" fmla="val 50000"/>
            </a:avLst>
          </a:prstGeom>
          <a:solidFill>
            <a:srgbClr val="2A3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2000" tIns="0" rIns="252000" bIns="0" rtlCol="0" anchor="ctr"/>
          <a:lstStyle/>
          <a:p>
            <a:pPr algn="l"/>
            <a:r>
              <a:rPr lang="pt-BR" sz="2000" b="1" i="0" dirty="0">
                <a:solidFill>
                  <a:srgbClr val="FFFFFF"/>
                </a:solidFill>
                <a:latin typeface="Arial"/>
              </a:rPr>
              <a:t>          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OPERAÇÃO EM TEMPO REAL</a:t>
            </a:r>
          </a:p>
        </p:txBody>
      </p:sp>
      <p:pic>
        <p:nvPicPr>
          <p:cNvPr id="42" name="Operacao ao vivo 2h" descr="ao_vivo_2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43625" y="26712693"/>
            <a:ext cx="8496000" cy="4099814"/>
          </a:xfrm>
          <a:prstGeom prst="rect">
            <a:avLst/>
          </a:prstGeom>
        </p:spPr>
      </p:pic>
      <p:sp>
        <p:nvSpPr>
          <p:cNvPr id="43" name="Legenda ao vivo"/>
          <p:cNvSpPr txBox="1"/>
          <p:nvPr/>
        </p:nvSpPr>
        <p:spPr>
          <a:xfrm>
            <a:off x="11552613" y="30945764"/>
            <a:ext cx="936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 dirty="0" err="1">
                <a:solidFill>
                  <a:srgbClr val="5B6573"/>
                </a:solidFill>
                <a:latin typeface="Arial"/>
              </a:rPr>
              <a:t>Figura</a:t>
            </a:r>
            <a:r>
              <a:rPr sz="1800" b="0" i="0" dirty="0">
                <a:solidFill>
                  <a:srgbClr val="5B6573"/>
                </a:solidFill>
                <a:latin typeface="Arial"/>
              </a:rPr>
              <a:t> 3 – </a:t>
            </a:r>
            <a:r>
              <a:rPr sz="1800" b="0" i="0" dirty="0" err="1">
                <a:solidFill>
                  <a:srgbClr val="5B6573"/>
                </a:solidFill>
                <a:latin typeface="Arial"/>
              </a:rPr>
              <a:t>Previsão</a:t>
            </a:r>
            <a:r>
              <a:rPr sz="1800" b="0" i="0" dirty="0">
                <a:solidFill>
                  <a:srgbClr val="5B6573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5B6573"/>
                </a:solidFill>
                <a:latin typeface="Arial"/>
              </a:rPr>
              <a:t>ao</a:t>
            </a:r>
            <a:r>
              <a:rPr sz="1800" b="0" i="0" dirty="0">
                <a:solidFill>
                  <a:srgbClr val="5B6573"/>
                </a:solidFill>
                <a:latin typeface="Arial"/>
              </a:rPr>
              <a:t> vivo 2h × </a:t>
            </a:r>
            <a:r>
              <a:rPr sz="1800" b="0" i="0" dirty="0" err="1">
                <a:solidFill>
                  <a:srgbClr val="5B6573"/>
                </a:solidFill>
                <a:latin typeface="Arial"/>
              </a:rPr>
              <a:t>telemetria</a:t>
            </a:r>
            <a:r>
              <a:rPr sz="1800" b="0" i="0" dirty="0">
                <a:solidFill>
                  <a:srgbClr val="5B6573"/>
                </a:solidFill>
                <a:latin typeface="Arial"/>
              </a:rPr>
              <a:t> (25/09 a 05/10/2026).</a:t>
            </a:r>
          </a:p>
        </p:txBody>
      </p:sp>
      <p:sp>
        <p:nvSpPr>
          <p:cNvPr id="44" name="Texto ao vivo"/>
          <p:cNvSpPr txBox="1"/>
          <p:nvPr/>
        </p:nvSpPr>
        <p:spPr>
          <a:xfrm>
            <a:off x="10908000" y="31451120"/>
            <a:ext cx="9821226" cy="972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0" i="0" dirty="0" err="1">
                <a:solidFill>
                  <a:srgbClr val="1F2633"/>
                </a:solidFill>
                <a:latin typeface="Arial"/>
              </a:rPr>
              <a:t>Robô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horário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com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telemetria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do SGB/ANA,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em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teste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paralelo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ao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alerta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oficial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. Em </a:t>
            </a:r>
            <a:r>
              <a:rPr sz="2000" b="1" i="0" dirty="0">
                <a:solidFill>
                  <a:srgbClr val="1F2633"/>
                </a:solidFill>
                <a:latin typeface="Arial"/>
              </a:rPr>
              <a:t>230 </a:t>
            </a:r>
            <a:r>
              <a:rPr sz="2000" b="1" i="0" dirty="0" err="1">
                <a:solidFill>
                  <a:srgbClr val="1F2633"/>
                </a:solidFill>
                <a:latin typeface="Arial"/>
              </a:rPr>
              <a:t>previsões</a:t>
            </a:r>
            <a:r>
              <a:rPr sz="2000" b="1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1F2633"/>
                </a:solidFill>
                <a:latin typeface="Arial"/>
              </a:rPr>
              <a:t>auditadas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(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pico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de </a:t>
            </a:r>
            <a:r>
              <a:rPr sz="2000" b="1" i="0" dirty="0">
                <a:solidFill>
                  <a:srgbClr val="1F2633"/>
                </a:solidFill>
                <a:latin typeface="Arial"/>
              </a:rPr>
              <a:t>13,3 m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), o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modelo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2h 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teve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</a:t>
            </a:r>
            <a:r>
              <a:rPr sz="2000" b="1" i="0" dirty="0">
                <a:solidFill>
                  <a:srgbClr val="D9661F"/>
                </a:solidFill>
                <a:latin typeface="Arial"/>
              </a:rPr>
              <a:t>EAM de 9,2 cm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 (</a:t>
            </a:r>
            <a:r>
              <a:rPr sz="2000" b="0" i="0" dirty="0" err="1">
                <a:solidFill>
                  <a:srgbClr val="1F2633"/>
                </a:solidFill>
                <a:latin typeface="Arial"/>
              </a:rPr>
              <a:t>persistência</a:t>
            </a:r>
            <a:r>
              <a:rPr sz="2000" b="0" i="0" dirty="0">
                <a:solidFill>
                  <a:srgbClr val="1F2633"/>
                </a:solidFill>
                <a:latin typeface="Arial"/>
              </a:rPr>
              <a:t>: 27,2 cm).</a:t>
            </a:r>
          </a:p>
        </p:txBody>
      </p:sp>
      <p:sp>
        <p:nvSpPr>
          <p:cNvPr id="45" name="Referencias e agradecimentos"/>
          <p:cNvSpPr txBox="1"/>
          <p:nvPr/>
        </p:nvSpPr>
        <p:spPr>
          <a:xfrm>
            <a:off x="16692000" y="35334521"/>
            <a:ext cx="4511794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 dirty="0" err="1">
                <a:solidFill>
                  <a:schemeClr val="bg1"/>
                </a:solidFill>
                <a:latin typeface="Arial"/>
              </a:rPr>
              <a:t>Referências</a:t>
            </a:r>
            <a:r>
              <a:rPr sz="1500" b="1" i="0" dirty="0">
                <a:solidFill>
                  <a:schemeClr val="bg1"/>
                </a:solidFill>
                <a:latin typeface="Arial"/>
              </a:rPr>
              <a:t>: </a:t>
            </a:r>
            <a:r>
              <a:rPr sz="1500" b="0" i="0" dirty="0">
                <a:solidFill>
                  <a:schemeClr val="bg1"/>
                </a:solidFill>
                <a:latin typeface="Arial"/>
              </a:rPr>
              <a:t>ALVISI, S. et al. (2006). Hydrology and Earth System Sciences, 10(1), 1-17. · RUMELHART, D. E. et al. (1986). Nature, 323, 533-536. · KUMAR, V. et al. (2023). Sustainability, 15(13), 10543.   </a:t>
            </a:r>
            <a:r>
              <a:rPr sz="1500" b="1" i="0" dirty="0" err="1">
                <a:solidFill>
                  <a:schemeClr val="bg1"/>
                </a:solidFill>
                <a:latin typeface="Arial"/>
              </a:rPr>
              <a:t>Agradecimentos</a:t>
            </a:r>
            <a:r>
              <a:rPr sz="1500" b="1" i="0" dirty="0">
                <a:solidFill>
                  <a:schemeClr val="bg1"/>
                </a:solidFill>
                <a:latin typeface="Arial"/>
              </a:rPr>
              <a:t>: </a:t>
            </a:r>
            <a:r>
              <a:rPr sz="1500" b="0" i="0" dirty="0">
                <a:solidFill>
                  <a:schemeClr val="bg1"/>
                </a:solidFill>
                <a:latin typeface="Arial"/>
              </a:rPr>
              <a:t>FAPERGS (</a:t>
            </a:r>
            <a:r>
              <a:rPr sz="1500" b="0" i="0" dirty="0" err="1">
                <a:solidFill>
                  <a:schemeClr val="bg1"/>
                </a:solidFill>
                <a:latin typeface="Arial"/>
              </a:rPr>
              <a:t>processos</a:t>
            </a:r>
            <a:r>
              <a:rPr sz="1500" b="0" i="0" dirty="0">
                <a:solidFill>
                  <a:schemeClr val="bg1"/>
                </a:solidFill>
                <a:latin typeface="Arial"/>
              </a:rPr>
              <a:t> 24/2551-0002124-8 e 25/2551-0002522-2).</a:t>
            </a:r>
          </a:p>
        </p:txBody>
      </p:sp>
      <p:sp>
        <p:nvSpPr>
          <p:cNvPr id="49" name="Chamada QR code">
            <a:extLst>
              <a:ext uri="{FF2B5EF4-FFF2-40B4-BE49-F238E27FC236}">
                <a16:creationId xmlns:a16="http://schemas.microsoft.com/office/drawing/2014/main" id="{B8D035C5-1487-E5C6-9D91-7D3AAB38A358}"/>
              </a:ext>
            </a:extLst>
          </p:cNvPr>
          <p:cNvSpPr txBox="1"/>
          <p:nvPr/>
        </p:nvSpPr>
        <p:spPr>
          <a:xfrm>
            <a:off x="5075783" y="33279219"/>
            <a:ext cx="3096000" cy="12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2800" b="1" i="0" dirty="0">
                <a:solidFill>
                  <a:srgbClr val="2A378D"/>
                </a:solidFill>
                <a:latin typeface="Arial"/>
              </a:rPr>
              <a:t>Dashboard</a:t>
            </a:r>
          </a:p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2800" b="1" i="0" dirty="0" err="1">
                <a:solidFill>
                  <a:srgbClr val="D9661F"/>
                </a:solidFill>
                <a:latin typeface="Arial"/>
              </a:rPr>
              <a:t>em</a:t>
            </a:r>
            <a:r>
              <a:rPr sz="2800" b="1" i="0" dirty="0">
                <a:solidFill>
                  <a:srgbClr val="D9661F"/>
                </a:solidFill>
                <a:latin typeface="Arial"/>
              </a:rPr>
              <a:t> tempo real →</a:t>
            </a: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AE79BE45-29B1-972B-6490-F38819B75D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351" y="32471971"/>
            <a:ext cx="3311298" cy="33112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653</Words>
  <Application>Microsoft Office PowerPoint</Application>
  <PresentationFormat>Personalizar</PresentationFormat>
  <Paragraphs>78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Montserrat Medium</vt:lpstr>
      <vt:lpstr>Arial</vt:lpstr>
      <vt:lpstr>Montserrat Bold</vt:lpstr>
      <vt:lpstr>Calibri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 Encontro Brasileiro de Hidrologia Estatística</dc:title>
  <dc:creator>fdn</dc:creator>
  <cp:lastModifiedBy>Juliana Reis</cp:lastModifiedBy>
  <cp:revision>8</cp:revision>
  <dcterms:created xsi:type="dcterms:W3CDTF">2006-08-16T00:00:00Z</dcterms:created>
  <dcterms:modified xsi:type="dcterms:W3CDTF">2026-10-05T16:24:33Z</dcterms:modified>
  <dc:identifier>DAHU89s2k0A</dc:identifier>
</cp:coreProperties>
</file>
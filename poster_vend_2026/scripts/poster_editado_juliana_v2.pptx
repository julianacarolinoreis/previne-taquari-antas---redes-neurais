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1383625" cy="36936363"/>
  <p:notesSz cx="6858000" cy="9144000"/>
  <p:embeddedFontLst>
    <p:embeddedFont>
      <p:font typeface="Montserrat Bold" panose="020B0604020202020204" charset="0"/>
      <p:regular r:id="rId3"/>
      <p:bold r:id="rId4"/>
    </p:embeddedFont>
    <p:embeddedFont>
      <p:font typeface="Montserrat Medium" panose="00000600000000000000" pitchFamily="2" charset="0"/>
      <p:regular r:id="rId5"/>
      <p:italic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2" d="100"/>
          <a:sy n="32" d="100"/>
        </p:scale>
        <p:origin x="2688" y="-2604"/>
      </p:cViewPr>
      <p:guideLst>
        <p:guide orient="horz" pos="2022"/>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94392"/>
            <a:ext cx="7772400" cy="1376160"/>
          </a:xfrm>
        </p:spPr>
        <p:txBody>
          <a:bodyPr/>
          <a:lstStyle/>
          <a:p>
            <a:r>
              <a:rPr lang="en-US"/>
              <a:t>Click to edit Master title style</a:t>
            </a:r>
          </a:p>
        </p:txBody>
      </p:sp>
      <p:sp>
        <p:nvSpPr>
          <p:cNvPr id="3" name="Subtitle 2"/>
          <p:cNvSpPr>
            <a:spLocks noGrp="1"/>
          </p:cNvSpPr>
          <p:nvPr>
            <p:ph type="subTitle" idx="1"/>
          </p:nvPr>
        </p:nvSpPr>
        <p:spPr>
          <a:xfrm>
            <a:off x="1371600" y="3638055"/>
            <a:ext cx="6400800" cy="1640691"/>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125507"/>
            <a:ext cx="7772400" cy="127510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721111"/>
            <a:ext cx="7772400" cy="140439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98023"/>
            <a:ext cx="4038600" cy="423696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8023"/>
            <a:ext cx="4038600" cy="423696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437092"/>
            <a:ext cx="4040188" cy="5989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036003"/>
            <a:ext cx="4040188" cy="36989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437092"/>
            <a:ext cx="4041775" cy="5989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036003"/>
            <a:ext cx="4041775" cy="369898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55615"/>
            <a:ext cx="3008313" cy="10878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55615"/>
            <a:ext cx="5111750" cy="5479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343465"/>
            <a:ext cx="3008313" cy="43915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494068"/>
            <a:ext cx="5486400" cy="5305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73648"/>
            <a:ext cx="5486400" cy="38520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024618"/>
            <a:ext cx="5486400" cy="75346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57102"/>
            <a:ext cx="2057400" cy="5477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57102"/>
            <a:ext cx="6019800" cy="547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7102"/>
            <a:ext cx="8229600" cy="10700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498023"/>
            <a:ext cx="8229600" cy="423696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5950479"/>
            <a:ext cx="2133600" cy="341811"/>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10/6/2026</a:t>
            </a:fld>
            <a:endParaRPr lang="en-US"/>
          </a:p>
        </p:txBody>
      </p:sp>
      <p:sp>
        <p:nvSpPr>
          <p:cNvPr id="5" name="Footer Placeholder 4"/>
          <p:cNvSpPr>
            <a:spLocks noGrp="1"/>
          </p:cNvSpPr>
          <p:nvPr>
            <p:ph type="ftr" sz="quarter" idx="3"/>
          </p:nvPr>
        </p:nvSpPr>
        <p:spPr>
          <a:xfrm>
            <a:off x="3124200" y="5950479"/>
            <a:ext cx="2895600" cy="34181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5950479"/>
            <a:ext cx="2133600" cy="341811"/>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DDE7"/>
        </a:solidFill>
        <a:effectLst/>
      </p:bgPr>
    </p:bg>
    <p:spTree>
      <p:nvGrpSpPr>
        <p:cNvPr id="1" name=""/>
        <p:cNvGrpSpPr/>
        <p:nvPr/>
      </p:nvGrpSpPr>
      <p:grpSpPr>
        <a:xfrm>
          <a:off x="0" y="0"/>
          <a:ext cx="0" cy="0"/>
          <a:chOff x="0" y="0"/>
          <a:chExt cx="0" cy="0"/>
        </a:xfrm>
      </p:grpSpPr>
      <p:sp>
        <p:nvSpPr>
          <p:cNvPr id="2" name="Freeform 2"/>
          <p:cNvSpPr/>
          <p:nvPr/>
        </p:nvSpPr>
        <p:spPr>
          <a:xfrm>
            <a:off x="205646" y="5125261"/>
            <a:ext cx="20559580" cy="30703757"/>
          </a:xfrm>
          <a:custGeom>
            <a:avLst/>
            <a:gdLst/>
            <a:ahLst/>
            <a:cxnLst/>
            <a:rect l="l" t="t" r="r" b="b"/>
            <a:pathLst>
              <a:path w="20559580" h="31027606">
                <a:moveTo>
                  <a:pt x="0" y="0"/>
                </a:moveTo>
                <a:lnTo>
                  <a:pt x="20559580" y="0"/>
                </a:lnTo>
                <a:lnTo>
                  <a:pt x="20559580" y="31027606"/>
                </a:lnTo>
                <a:lnTo>
                  <a:pt x="0" y="31027606"/>
                </a:lnTo>
                <a:lnTo>
                  <a:pt x="0" y="0"/>
                </a:lnTo>
                <a:close/>
              </a:path>
            </a:pathLst>
          </a:custGeom>
          <a:blipFill>
            <a:blip r:embed="rId2"/>
            <a:stretch>
              <a:fillRect r="-1811"/>
            </a:stretch>
          </a:blipFill>
        </p:spPr>
        <p:txBody>
          <a:bodyPr/>
          <a:lstStyle/>
          <a:p>
            <a:endParaRPr lang="pt-BR" dirty="0"/>
          </a:p>
        </p:txBody>
      </p:sp>
      <p:sp>
        <p:nvSpPr>
          <p:cNvPr id="3" name="Freeform 3"/>
          <p:cNvSpPr/>
          <p:nvPr/>
        </p:nvSpPr>
        <p:spPr>
          <a:xfrm>
            <a:off x="29812" y="33151392"/>
            <a:ext cx="21372000" cy="3774254"/>
          </a:xfrm>
          <a:custGeom>
            <a:avLst/>
            <a:gdLst/>
            <a:ahLst/>
            <a:cxnLst/>
            <a:rect l="l" t="t" r="r" b="b"/>
            <a:pathLst>
              <a:path w="21372000" h="3774254">
                <a:moveTo>
                  <a:pt x="0" y="0"/>
                </a:moveTo>
                <a:lnTo>
                  <a:pt x="21372000" y="0"/>
                </a:lnTo>
                <a:lnTo>
                  <a:pt x="21372000" y="3774254"/>
                </a:lnTo>
                <a:lnTo>
                  <a:pt x="0" y="3774254"/>
                </a:lnTo>
                <a:lnTo>
                  <a:pt x="0" y="0"/>
                </a:lnTo>
                <a:close/>
              </a:path>
            </a:pathLst>
          </a:custGeom>
          <a:blipFill>
            <a:blip r:embed="rId3"/>
            <a:stretch>
              <a:fillRect/>
            </a:stretch>
          </a:blipFill>
        </p:spPr>
      </p:sp>
      <p:sp>
        <p:nvSpPr>
          <p:cNvPr id="4" name="Freeform 4"/>
          <p:cNvSpPr/>
          <p:nvPr/>
        </p:nvSpPr>
        <p:spPr>
          <a:xfrm>
            <a:off x="0" y="10717"/>
            <a:ext cx="21372000" cy="2259069"/>
          </a:xfrm>
          <a:custGeom>
            <a:avLst/>
            <a:gdLst/>
            <a:ahLst/>
            <a:cxnLst/>
            <a:rect l="l" t="t" r="r" b="b"/>
            <a:pathLst>
              <a:path w="21372000" h="2259069">
                <a:moveTo>
                  <a:pt x="0" y="0"/>
                </a:moveTo>
                <a:lnTo>
                  <a:pt x="21372000" y="0"/>
                </a:lnTo>
                <a:lnTo>
                  <a:pt x="21372000" y="2259069"/>
                </a:lnTo>
                <a:lnTo>
                  <a:pt x="0" y="2259069"/>
                </a:lnTo>
                <a:lnTo>
                  <a:pt x="0" y="0"/>
                </a:lnTo>
                <a:close/>
              </a:path>
            </a:pathLst>
          </a:custGeom>
          <a:blipFill>
            <a:blip r:embed="rId4"/>
            <a:stretch>
              <a:fillRect t="-2273" b="-2273"/>
            </a:stretch>
          </a:blipFill>
        </p:spPr>
      </p:sp>
      <p:sp>
        <p:nvSpPr>
          <p:cNvPr id="5" name="Freeform 5"/>
          <p:cNvSpPr/>
          <p:nvPr/>
        </p:nvSpPr>
        <p:spPr>
          <a:xfrm>
            <a:off x="14063313" y="1369330"/>
            <a:ext cx="442955" cy="2702024"/>
          </a:xfrm>
          <a:custGeom>
            <a:avLst/>
            <a:gdLst/>
            <a:ahLst/>
            <a:cxnLst/>
            <a:rect l="l" t="t" r="r" b="b"/>
            <a:pathLst>
              <a:path w="442955" h="2702024">
                <a:moveTo>
                  <a:pt x="0" y="0"/>
                </a:moveTo>
                <a:lnTo>
                  <a:pt x="442955" y="0"/>
                </a:lnTo>
                <a:lnTo>
                  <a:pt x="442955" y="2702024"/>
                </a:lnTo>
                <a:lnTo>
                  <a:pt x="0" y="2702024"/>
                </a:lnTo>
                <a:lnTo>
                  <a:pt x="0" y="0"/>
                </a:lnTo>
                <a:close/>
              </a:path>
            </a:pathLst>
          </a:custGeom>
          <a:blipFill>
            <a:blip r:embed="rId5"/>
            <a:stretch>
              <a:fillRect/>
            </a:stretch>
          </a:blipFill>
        </p:spPr>
      </p:sp>
      <p:sp>
        <p:nvSpPr>
          <p:cNvPr id="6" name="TextBox 6"/>
          <p:cNvSpPr txBox="1"/>
          <p:nvPr/>
        </p:nvSpPr>
        <p:spPr>
          <a:xfrm>
            <a:off x="1103812" y="5402413"/>
            <a:ext cx="19202399" cy="1477328"/>
          </a:xfrm>
          <a:prstGeom prst="rect">
            <a:avLst/>
          </a:prstGeom>
        </p:spPr>
        <p:txBody>
          <a:bodyPr wrap="square" lIns="0" tIns="0" rIns="0" bIns="0" rtlCol="0" anchor="t">
            <a:spAutoFit/>
          </a:bodyPr>
          <a:lstStyle/>
          <a:p>
            <a:pPr algn="ctr">
              <a:lnSpc>
                <a:spcPct val="100000"/>
              </a:lnSpc>
            </a:pPr>
            <a:r>
              <a:rPr lang="pt-BR" sz="4800" b="1" dirty="0">
                <a:solidFill>
                  <a:schemeClr val="tx2"/>
                </a:solidFill>
                <a:latin typeface="Arial" panose="020B0604020202020204" pitchFamily="34" charset="0"/>
                <a:cs typeface="Arial" panose="020B0604020202020204" pitchFamily="34" charset="0"/>
              </a:rPr>
              <a:t>REDES NEURAIS ARTIFICIAIS PARA PREVISÃO DE CHEIAS NO RIO TAQUARI, MUNICÍPIO DE SANTA TEREZA, RS </a:t>
            </a:r>
            <a:endParaRPr lang="en-US" sz="4800" b="1" dirty="0">
              <a:solidFill>
                <a:schemeClr val="tx2"/>
              </a:solidFill>
              <a:latin typeface="Arial" panose="020B0604020202020204" pitchFamily="34" charset="0"/>
              <a:ea typeface="Montaser Arabic Semi-Bold"/>
              <a:cs typeface="Arial" panose="020B0604020202020204" pitchFamily="34" charset="0"/>
              <a:sym typeface="Montaser Arabic Semi-Bold"/>
            </a:endParaRPr>
          </a:p>
        </p:txBody>
      </p:sp>
      <p:sp>
        <p:nvSpPr>
          <p:cNvPr id="7" name="TextBox 7"/>
          <p:cNvSpPr txBox="1"/>
          <p:nvPr/>
        </p:nvSpPr>
        <p:spPr>
          <a:xfrm>
            <a:off x="1103812" y="6992298"/>
            <a:ext cx="19224000" cy="430887"/>
          </a:xfrm>
          <a:prstGeom prst="rect">
            <a:avLst/>
          </a:prstGeom>
        </p:spPr>
        <p:txBody>
          <a:bodyPr wrap="square" lIns="0" tIns="0" rIns="0" bIns="0" rtlCol="0" anchor="t">
            <a:spAutoFit/>
          </a:bodyPr>
          <a:lstStyle/>
          <a:p>
            <a:pPr algn="ctr"/>
            <a:r>
              <a:rPr lang="en-US" sz="2800" b="0" i="0" dirty="0">
                <a:solidFill>
                  <a:srgbClr val="003C64"/>
                </a:solidFill>
                <a:latin typeface="Arial"/>
              </a:rPr>
              <a:t>Juliana Carolino Reis, Guilherme Garcia de Oliveira, Fernanda Vier Jung e Josiane Leci Vanin Barbieri</a:t>
            </a:r>
          </a:p>
        </p:txBody>
      </p:sp>
      <p:grpSp>
        <p:nvGrpSpPr>
          <p:cNvPr id="8" name="Group 8"/>
          <p:cNvGrpSpPr/>
          <p:nvPr/>
        </p:nvGrpSpPr>
        <p:grpSpPr>
          <a:xfrm>
            <a:off x="726588" y="1175352"/>
            <a:ext cx="13794084" cy="4339367"/>
            <a:chOff x="0" y="0"/>
            <a:chExt cx="18392113" cy="5785823"/>
          </a:xfrm>
        </p:grpSpPr>
        <p:sp>
          <p:nvSpPr>
            <p:cNvPr id="9" name="Freeform 9"/>
            <p:cNvSpPr/>
            <p:nvPr/>
          </p:nvSpPr>
          <p:spPr>
            <a:xfrm>
              <a:off x="0" y="0"/>
              <a:ext cx="8632758" cy="5785823"/>
            </a:xfrm>
            <a:custGeom>
              <a:avLst/>
              <a:gdLst/>
              <a:ahLst/>
              <a:cxnLst/>
              <a:rect l="l" t="t" r="r" b="b"/>
              <a:pathLst>
                <a:path w="8632758" h="5785823">
                  <a:moveTo>
                    <a:pt x="0" y="0"/>
                  </a:moveTo>
                  <a:lnTo>
                    <a:pt x="8632758" y="0"/>
                  </a:lnTo>
                  <a:lnTo>
                    <a:pt x="8632758" y="5785823"/>
                  </a:lnTo>
                  <a:lnTo>
                    <a:pt x="0" y="5785823"/>
                  </a:lnTo>
                  <a:lnTo>
                    <a:pt x="0" y="0"/>
                  </a:lnTo>
                  <a:close/>
                </a:path>
              </a:pathLst>
            </a:custGeom>
            <a:blipFill>
              <a:blip r:embed="rId6"/>
              <a:stretch>
                <a:fillRect t="-28575" b="-30153"/>
              </a:stretch>
            </a:blipFill>
          </p:spPr>
        </p:sp>
        <p:sp>
          <p:nvSpPr>
            <p:cNvPr id="10" name="Freeform 10"/>
            <p:cNvSpPr/>
            <p:nvPr/>
          </p:nvSpPr>
          <p:spPr>
            <a:xfrm>
              <a:off x="3873399" y="1426401"/>
              <a:ext cx="2788615" cy="1344228"/>
            </a:xfrm>
            <a:custGeom>
              <a:avLst/>
              <a:gdLst/>
              <a:ahLst/>
              <a:cxnLst/>
              <a:rect l="l" t="t" r="r" b="b"/>
              <a:pathLst>
                <a:path w="2788615" h="1344228">
                  <a:moveTo>
                    <a:pt x="0" y="0"/>
                  </a:moveTo>
                  <a:lnTo>
                    <a:pt x="2788615" y="0"/>
                  </a:lnTo>
                  <a:lnTo>
                    <a:pt x="2788615" y="1344229"/>
                  </a:lnTo>
                  <a:lnTo>
                    <a:pt x="0" y="1344229"/>
                  </a:lnTo>
                  <a:lnTo>
                    <a:pt x="0" y="0"/>
                  </a:lnTo>
                  <a:close/>
                </a:path>
              </a:pathLst>
            </a:custGeom>
            <a:blipFill>
              <a:blip r:embed="rId7"/>
              <a:stretch>
                <a:fillRect l="-3609" r="-3609"/>
              </a:stretch>
            </a:blipFill>
          </p:spPr>
        </p:sp>
        <p:grpSp>
          <p:nvGrpSpPr>
            <p:cNvPr id="11" name="Group 11"/>
            <p:cNvGrpSpPr/>
            <p:nvPr/>
          </p:nvGrpSpPr>
          <p:grpSpPr>
            <a:xfrm>
              <a:off x="3279381" y="2419016"/>
              <a:ext cx="7030617" cy="1970008"/>
              <a:chOff x="0" y="0"/>
              <a:chExt cx="1480056" cy="414718"/>
            </a:xfrm>
          </p:grpSpPr>
          <p:sp>
            <p:nvSpPr>
              <p:cNvPr id="12" name="Freeform 12"/>
              <p:cNvSpPr/>
              <p:nvPr/>
            </p:nvSpPr>
            <p:spPr>
              <a:xfrm>
                <a:off x="0" y="0"/>
                <a:ext cx="1480056" cy="414718"/>
              </a:xfrm>
              <a:custGeom>
                <a:avLst/>
                <a:gdLst/>
                <a:ahLst/>
                <a:cxnLst/>
                <a:rect l="l" t="t" r="r" b="b"/>
                <a:pathLst>
                  <a:path w="1480056" h="414718">
                    <a:moveTo>
                      <a:pt x="0" y="0"/>
                    </a:moveTo>
                    <a:lnTo>
                      <a:pt x="1480056" y="0"/>
                    </a:lnTo>
                    <a:lnTo>
                      <a:pt x="1480056" y="414718"/>
                    </a:lnTo>
                    <a:lnTo>
                      <a:pt x="0" y="414718"/>
                    </a:lnTo>
                    <a:close/>
                  </a:path>
                </a:pathLst>
              </a:custGeom>
            </p:spPr>
          </p:sp>
          <p:sp>
            <p:nvSpPr>
              <p:cNvPr id="13" name="TextBox 13"/>
              <p:cNvSpPr txBox="1"/>
              <p:nvPr/>
            </p:nvSpPr>
            <p:spPr>
              <a:xfrm>
                <a:off x="0" y="-19050"/>
                <a:ext cx="1480056" cy="433768"/>
              </a:xfrm>
              <a:prstGeom prst="rect">
                <a:avLst/>
              </a:prstGeom>
            </p:spPr>
            <p:txBody>
              <a:bodyPr lIns="44264" tIns="44264" rIns="44264" bIns="44264" rtlCol="0" anchor="ctr"/>
              <a:lstStyle/>
              <a:p>
                <a:pPr algn="ctr">
                  <a:lnSpc>
                    <a:spcPts val="623"/>
                  </a:lnSpc>
                </a:pPr>
                <a:endParaRPr/>
              </a:p>
            </p:txBody>
          </p:sp>
        </p:grpSp>
        <p:sp>
          <p:nvSpPr>
            <p:cNvPr id="14" name="TextBox 14"/>
            <p:cNvSpPr txBox="1"/>
            <p:nvPr/>
          </p:nvSpPr>
          <p:spPr>
            <a:xfrm>
              <a:off x="4316379" y="3865402"/>
              <a:ext cx="9897453" cy="530060"/>
            </a:xfrm>
            <a:prstGeom prst="rect">
              <a:avLst/>
            </a:prstGeom>
          </p:spPr>
          <p:txBody>
            <a:bodyPr lIns="0" tIns="0" rIns="0" bIns="0" rtlCol="0" anchor="t">
              <a:spAutoFit/>
            </a:bodyPr>
            <a:lstStyle/>
            <a:p>
              <a:pPr>
                <a:lnSpc>
                  <a:spcPts val="3142"/>
                </a:lnSpc>
                <a:spcBef>
                  <a:spcPct val="0"/>
                </a:spcBef>
              </a:pPr>
              <a:r>
                <a:rPr lang="en-US" sz="2708" b="1" spc="-100" dirty="0">
                  <a:solidFill>
                    <a:srgbClr val="036CB5"/>
                  </a:solidFill>
                  <a:latin typeface="Montserrat Medium"/>
                  <a:ea typeface="Montserrat Medium"/>
                  <a:cs typeface="Montserrat Medium"/>
                  <a:sym typeface="Montserrat Medium"/>
                </a:rPr>
                <a:t>26 a 30 de Outubro de 2026 | Fortaleza - CE</a:t>
              </a:r>
            </a:p>
          </p:txBody>
        </p:sp>
        <p:sp>
          <p:nvSpPr>
            <p:cNvPr id="15" name="TextBox 15"/>
            <p:cNvSpPr txBox="1"/>
            <p:nvPr/>
          </p:nvSpPr>
          <p:spPr>
            <a:xfrm>
              <a:off x="4316379" y="2493325"/>
              <a:ext cx="14075734" cy="601105"/>
            </a:xfrm>
            <a:prstGeom prst="rect">
              <a:avLst/>
            </a:prstGeom>
          </p:spPr>
          <p:txBody>
            <a:bodyPr lIns="0" tIns="0" rIns="0" bIns="0" rtlCol="0" anchor="t">
              <a:spAutoFit/>
            </a:bodyPr>
            <a:lstStyle/>
            <a:p>
              <a:pPr>
                <a:lnSpc>
                  <a:spcPts val="3459"/>
                </a:lnSpc>
              </a:pPr>
              <a:r>
                <a:rPr lang="en-US" sz="3603" b="1" spc="-180">
                  <a:solidFill>
                    <a:srgbClr val="2A378D"/>
                  </a:solidFill>
                  <a:latin typeface="Montserrat Bold"/>
                  <a:ea typeface="Montserrat Bold"/>
                  <a:cs typeface="Montserrat Bold"/>
                  <a:sym typeface="Montserrat Bold"/>
                </a:rPr>
                <a:t>V Encontro Nacional de Desastres</a:t>
              </a:r>
            </a:p>
          </p:txBody>
        </p:sp>
        <p:sp>
          <p:nvSpPr>
            <p:cNvPr id="16" name="TextBox 16"/>
            <p:cNvSpPr txBox="1"/>
            <p:nvPr/>
          </p:nvSpPr>
          <p:spPr>
            <a:xfrm>
              <a:off x="4316379" y="3215544"/>
              <a:ext cx="14075734" cy="601105"/>
            </a:xfrm>
            <a:prstGeom prst="rect">
              <a:avLst/>
            </a:prstGeom>
          </p:spPr>
          <p:txBody>
            <a:bodyPr lIns="0" tIns="0" rIns="0" bIns="0" rtlCol="0" anchor="t">
              <a:spAutoFit/>
            </a:bodyPr>
            <a:lstStyle/>
            <a:p>
              <a:pPr>
                <a:lnSpc>
                  <a:spcPts val="3459"/>
                </a:lnSpc>
              </a:pPr>
              <a:r>
                <a:rPr lang="en-US" sz="3603" b="1" spc="-180" dirty="0">
                  <a:solidFill>
                    <a:srgbClr val="2A378D"/>
                  </a:solidFill>
                  <a:latin typeface="Montserrat Bold"/>
                  <a:ea typeface="Montserrat Bold"/>
                  <a:cs typeface="Montserrat Bold"/>
                  <a:sym typeface="Montserrat Bold"/>
                </a:rPr>
                <a:t>II </a:t>
              </a:r>
              <a:r>
                <a:rPr lang="en-US" sz="3603" b="1" spc="-180" dirty="0" err="1">
                  <a:solidFill>
                    <a:srgbClr val="2A378D"/>
                  </a:solidFill>
                  <a:latin typeface="Montserrat Bold"/>
                  <a:ea typeface="Montserrat Bold"/>
                  <a:cs typeface="Montserrat Bold"/>
                  <a:sym typeface="Montserrat Bold"/>
                </a:rPr>
                <a:t>Encontro</a:t>
              </a:r>
              <a:r>
                <a:rPr lang="en-US" sz="3603" b="1" spc="-180" dirty="0">
                  <a:solidFill>
                    <a:srgbClr val="2A378D"/>
                  </a:solidFill>
                  <a:latin typeface="Montserrat Bold"/>
                  <a:ea typeface="Montserrat Bold"/>
                  <a:cs typeface="Montserrat Bold"/>
                  <a:sym typeface="Montserrat Bold"/>
                </a:rPr>
                <a:t> </a:t>
              </a:r>
              <a:r>
                <a:rPr lang="en-US" sz="3603" b="1" spc="-180" dirty="0" err="1">
                  <a:solidFill>
                    <a:srgbClr val="2A378D"/>
                  </a:solidFill>
                  <a:latin typeface="Montserrat Bold"/>
                  <a:ea typeface="Montserrat Bold"/>
                  <a:cs typeface="Montserrat Bold"/>
                  <a:sym typeface="Montserrat Bold"/>
                </a:rPr>
                <a:t>Brasileiro</a:t>
              </a:r>
              <a:r>
                <a:rPr lang="en-US" sz="3603" b="1" spc="-180" dirty="0">
                  <a:solidFill>
                    <a:srgbClr val="2A378D"/>
                  </a:solidFill>
                  <a:latin typeface="Montserrat Bold"/>
                  <a:ea typeface="Montserrat Bold"/>
                  <a:cs typeface="Montserrat Bold"/>
                  <a:sym typeface="Montserrat Bold"/>
                </a:rPr>
                <a:t> de </a:t>
              </a:r>
              <a:r>
                <a:rPr lang="en-US" sz="3603" b="1" spc="-180" dirty="0" err="1">
                  <a:solidFill>
                    <a:srgbClr val="2A378D"/>
                  </a:solidFill>
                  <a:latin typeface="Montserrat Bold"/>
                  <a:ea typeface="Montserrat Bold"/>
                  <a:cs typeface="Montserrat Bold"/>
                  <a:sym typeface="Montserrat Bold"/>
                </a:rPr>
                <a:t>Hidrologia</a:t>
              </a:r>
              <a:r>
                <a:rPr lang="en-US" sz="3603" b="1" spc="-180" dirty="0">
                  <a:solidFill>
                    <a:srgbClr val="2A378D"/>
                  </a:solidFill>
                  <a:latin typeface="Montserrat Bold"/>
                  <a:ea typeface="Montserrat Bold"/>
                  <a:cs typeface="Montserrat Bold"/>
                  <a:sym typeface="Montserrat Bold"/>
                </a:rPr>
                <a:t> </a:t>
              </a:r>
              <a:r>
                <a:rPr lang="en-US" sz="3603" b="1" spc="-180" dirty="0" err="1">
                  <a:solidFill>
                    <a:srgbClr val="2A378D"/>
                  </a:solidFill>
                  <a:latin typeface="Montserrat Bold"/>
                  <a:ea typeface="Montserrat Bold"/>
                  <a:cs typeface="Montserrat Bold"/>
                  <a:sym typeface="Montserrat Bold"/>
                </a:rPr>
                <a:t>Estatística</a:t>
              </a:r>
              <a:endParaRPr lang="en-US" sz="3603" b="1" spc="-180" dirty="0">
                <a:solidFill>
                  <a:srgbClr val="2A378D"/>
                </a:solidFill>
                <a:latin typeface="Montserrat Bold"/>
                <a:ea typeface="Montserrat Bold"/>
                <a:cs typeface="Montserrat Bold"/>
                <a:sym typeface="Montserrat Bold"/>
              </a:endParaRPr>
            </a:p>
          </p:txBody>
        </p:sp>
      </p:grpSp>
      <p:sp>
        <p:nvSpPr>
          <p:cNvPr id="17" name="Freeform 17"/>
          <p:cNvSpPr/>
          <p:nvPr/>
        </p:nvSpPr>
        <p:spPr>
          <a:xfrm>
            <a:off x="14506267" y="1932185"/>
            <a:ext cx="6150770" cy="3127980"/>
          </a:xfrm>
          <a:custGeom>
            <a:avLst/>
            <a:gdLst/>
            <a:ahLst/>
            <a:cxnLst/>
            <a:rect l="l" t="t" r="r" b="b"/>
            <a:pathLst>
              <a:path w="6150770" h="3127980">
                <a:moveTo>
                  <a:pt x="0" y="0"/>
                </a:moveTo>
                <a:lnTo>
                  <a:pt x="6150770" y="0"/>
                </a:lnTo>
                <a:lnTo>
                  <a:pt x="6150770" y="3127980"/>
                </a:lnTo>
                <a:lnTo>
                  <a:pt x="0" y="3127980"/>
                </a:lnTo>
                <a:lnTo>
                  <a:pt x="0" y="0"/>
                </a:lnTo>
                <a:close/>
              </a:path>
            </a:pathLst>
          </a:custGeom>
          <a:blipFill>
            <a:blip r:embed="rId8"/>
            <a:stretch>
              <a:fillRect l="-100256" r="-4529"/>
            </a:stretch>
          </a:blipFill>
        </p:spPr>
      </p:sp>
      <p:sp>
        <p:nvSpPr>
          <p:cNvPr id="18" name="Secao INTRODUÇÃO"/>
          <p:cNvSpPr/>
          <p:nvPr/>
        </p:nvSpPr>
        <p:spPr>
          <a:xfrm>
            <a:off x="1080000" y="8462818"/>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INTRODUÇÃO</a:t>
            </a:r>
          </a:p>
        </p:txBody>
      </p:sp>
      <p:sp>
        <p:nvSpPr>
          <p:cNvPr id="19" name="Texto introducao"/>
          <p:cNvSpPr txBox="1"/>
          <p:nvPr/>
        </p:nvSpPr>
        <p:spPr>
          <a:xfrm>
            <a:off x="1080000" y="9357880"/>
            <a:ext cx="10306961" cy="2490875"/>
          </a:xfrm>
          <a:prstGeom prst="rect">
            <a:avLst/>
          </a:prstGeom>
          <a:noFill/>
        </p:spPr>
        <p:txBody>
          <a:bodyPr wrap="square" lIns="0" tIns="0" rIns="0" bIns="0" anchor="t">
            <a:spAutoFit/>
          </a:bodyPr>
          <a:lstStyle/>
          <a:p>
            <a:pPr marL="0" marR="0" lvl="0" indent="0" algn="just" defTabSz="914400" rtl="0" eaLnBrk="1" fontAlgn="auto" latinLnBrk="0" hangingPunct="1">
              <a:lnSpc>
                <a:spcPct val="114000"/>
              </a:lnSpc>
              <a:spcBef>
                <a:spcPts val="0"/>
              </a:spcBef>
              <a:spcAft>
                <a:spcPts val="600"/>
              </a:spcAft>
              <a:buClrTx/>
              <a:buSzTx/>
              <a:buFontTx/>
              <a:buNone/>
              <a:tabLst/>
              <a:defRPr/>
            </a:pPr>
            <a:r>
              <a:rPr kumimoji="0" lang="pt-BR" sz="2400" b="0" i="0" u="none" strike="noStrike" kern="1200" cap="none" spc="0" normalizeH="0" baseline="0" noProof="0" dirty="0">
                <a:ln>
                  <a:noFill/>
                </a:ln>
                <a:solidFill>
                  <a:srgbClr val="1F2633"/>
                </a:solidFill>
                <a:effectLst/>
                <a:uLnTx/>
                <a:uFillTx/>
                <a:latin typeface="Arial"/>
                <a:ea typeface="+mn-ea"/>
                <a:cs typeface="+mn-cs"/>
              </a:rPr>
              <a:t>As cheias de 2023 e 2024 na bacia do Taquari-Antas mostraram a necessidade de previsões de nível com antecedência útil para o alerta. Este trabalho aplica </a:t>
            </a:r>
            <a:r>
              <a:rPr kumimoji="0" lang="pt-BR" sz="2400" b="1" i="0" u="none" strike="noStrike" kern="1200" cap="none" spc="0" normalizeH="0" baseline="0" noProof="0" dirty="0">
                <a:ln>
                  <a:noFill/>
                </a:ln>
                <a:solidFill>
                  <a:srgbClr val="1F2633"/>
                </a:solidFill>
                <a:effectLst/>
                <a:uLnTx/>
                <a:uFillTx/>
                <a:latin typeface="Arial"/>
                <a:ea typeface="+mn-ea"/>
                <a:cs typeface="+mn-cs"/>
              </a:rPr>
              <a:t>Redes Neurais Artificiais</a:t>
            </a:r>
            <a:r>
              <a:rPr kumimoji="0" lang="pt-BR" sz="2400" b="0" i="0" u="none" strike="noStrike" kern="1200" cap="none" spc="0" normalizeH="0" baseline="0" noProof="0" dirty="0">
                <a:ln>
                  <a:noFill/>
                </a:ln>
                <a:solidFill>
                  <a:srgbClr val="1F2633"/>
                </a:solidFill>
                <a:effectLst/>
                <a:uLnTx/>
                <a:uFillTx/>
                <a:latin typeface="Arial"/>
                <a:ea typeface="+mn-ea"/>
                <a:cs typeface="+mn-cs"/>
              </a:rPr>
              <a:t> do tipo </a:t>
            </a:r>
            <a:r>
              <a:rPr kumimoji="0" lang="pt-BR" sz="2400" b="0" i="0" u="none" strike="noStrike" kern="1200" cap="none" spc="0" normalizeH="0" baseline="0" noProof="0" dirty="0" err="1">
                <a:ln>
                  <a:noFill/>
                </a:ln>
                <a:solidFill>
                  <a:srgbClr val="1F2633"/>
                </a:solidFill>
                <a:effectLst/>
                <a:uLnTx/>
                <a:uFillTx/>
                <a:latin typeface="Arial"/>
                <a:ea typeface="+mn-ea"/>
                <a:cs typeface="+mn-cs"/>
              </a:rPr>
              <a:t>Perceptron</a:t>
            </a:r>
            <a:r>
              <a:rPr kumimoji="0" lang="pt-BR" sz="2400" b="0" i="0" u="none" strike="noStrike" kern="1200" cap="none" spc="0" normalizeH="0" baseline="0" noProof="0" dirty="0">
                <a:ln>
                  <a:noFill/>
                </a:ln>
                <a:solidFill>
                  <a:srgbClr val="1F2633"/>
                </a:solidFill>
                <a:effectLst/>
                <a:uLnTx/>
                <a:uFillTx/>
                <a:latin typeface="Arial"/>
                <a:ea typeface="+mn-ea"/>
                <a:cs typeface="+mn-cs"/>
              </a:rPr>
              <a:t> Multicamadas (MLP) para prever o nível do rio Taquari em </a:t>
            </a:r>
            <a:r>
              <a:rPr kumimoji="0" lang="pt-BR" sz="2400" b="1" i="0" u="none" strike="noStrike" kern="1200" cap="none" spc="0" normalizeH="0" baseline="0" noProof="0" dirty="0">
                <a:ln>
                  <a:noFill/>
                </a:ln>
                <a:solidFill>
                  <a:srgbClr val="1F2633"/>
                </a:solidFill>
                <a:effectLst/>
                <a:uLnTx/>
                <a:uFillTx/>
                <a:latin typeface="Arial"/>
                <a:ea typeface="+mn-ea"/>
                <a:cs typeface="+mn-cs"/>
              </a:rPr>
              <a:t>Santa Tereza</a:t>
            </a:r>
            <a:r>
              <a:rPr kumimoji="0" lang="pt-BR" sz="2400" b="0" i="0" u="none" strike="noStrike" kern="1200" cap="none" spc="0" normalizeH="0" baseline="0" noProof="0" dirty="0">
                <a:ln>
                  <a:noFill/>
                </a:ln>
                <a:solidFill>
                  <a:srgbClr val="1F2633"/>
                </a:solidFill>
                <a:effectLst/>
                <a:uLnTx/>
                <a:uFillTx/>
                <a:latin typeface="Arial"/>
                <a:ea typeface="+mn-ea"/>
                <a:cs typeface="+mn-cs"/>
              </a:rPr>
              <a:t> com </a:t>
            </a:r>
            <a:r>
              <a:rPr kumimoji="0" lang="pt-BR" sz="2400" b="1" i="0" u="none" strike="noStrike" kern="1200" cap="none" spc="0" normalizeH="0" baseline="0" noProof="0" dirty="0">
                <a:ln>
                  <a:noFill/>
                </a:ln>
                <a:solidFill>
                  <a:srgbClr val="1F2633"/>
                </a:solidFill>
                <a:effectLst/>
                <a:uLnTx/>
                <a:uFillTx/>
                <a:latin typeface="Arial"/>
                <a:ea typeface="+mn-ea"/>
                <a:cs typeface="+mn-cs"/>
              </a:rPr>
              <a:t>2, 4 e 8 horas</a:t>
            </a:r>
            <a:r>
              <a:rPr kumimoji="0" lang="pt-BR" sz="2400" b="0" i="0" u="none" strike="noStrike" kern="1200" cap="none" spc="0" normalizeH="0" baseline="0" noProof="0" dirty="0">
                <a:ln>
                  <a:noFill/>
                </a:ln>
                <a:solidFill>
                  <a:srgbClr val="1F2633"/>
                </a:solidFill>
                <a:effectLst/>
                <a:uLnTx/>
                <a:uFillTx/>
                <a:latin typeface="Arial"/>
                <a:ea typeface="+mn-ea"/>
                <a:cs typeface="+mn-cs"/>
              </a:rPr>
              <a:t> de antecedência. A rede neural tem como variável dependente a diferença de nível entre o nível atual e o horizonte de previsão.</a:t>
            </a:r>
            <a:endParaRPr kumimoji="0" lang="pt-BR" sz="2400" b="0" i="0" u="none" strike="noStrike" kern="1200" cap="none" spc="0" normalizeH="0" baseline="0" noProof="0" dirty="0">
              <a:ln>
                <a:noFill/>
              </a:ln>
              <a:solidFill>
                <a:srgbClr val="1F2633"/>
              </a:solidFill>
              <a:effectLst/>
              <a:uLnTx/>
              <a:uFillTx/>
              <a:latin typeface="Arial" panose="020B0604020202020204" pitchFamily="34" charset="0"/>
              <a:ea typeface="+mn-ea"/>
              <a:cs typeface="Arial" panose="020B0604020202020204" pitchFamily="34" charset="0"/>
            </a:endParaRPr>
          </a:p>
        </p:txBody>
      </p:sp>
      <p:sp>
        <p:nvSpPr>
          <p:cNvPr id="20" name="Secao ÁREA DE ESTUDO E DADOS"/>
          <p:cNvSpPr/>
          <p:nvPr/>
        </p:nvSpPr>
        <p:spPr>
          <a:xfrm>
            <a:off x="1080000" y="12348000"/>
            <a:ext cx="66528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ÁREA DE ESTUDO E DADOS</a:t>
            </a:r>
          </a:p>
        </p:txBody>
      </p:sp>
      <p:sp>
        <p:nvSpPr>
          <p:cNvPr id="21" name="Texto area de estudo"/>
          <p:cNvSpPr txBox="1"/>
          <p:nvPr/>
        </p:nvSpPr>
        <p:spPr>
          <a:xfrm>
            <a:off x="1080000" y="13032000"/>
            <a:ext cx="9360000" cy="2223750"/>
          </a:xfrm>
          <a:prstGeom prst="rect">
            <a:avLst/>
          </a:prstGeom>
          <a:noFill/>
        </p:spPr>
        <p:txBody>
          <a:bodyPr wrap="square" lIns="0" tIns="0" rIns="0" bIns="0" anchor="t">
            <a:spAutoFit/>
          </a:bodyPr>
          <a:lstStyle/>
          <a:p>
            <a:pPr marL="252000" indent="-252000" algn="just">
              <a:lnSpc>
                <a:spcPct val="114000"/>
              </a:lnSpc>
              <a:spcAft>
                <a:spcPts val="600"/>
              </a:spcAft>
              <a:buClr>
                <a:srgbClr val="D9661F"/>
              </a:buClr>
              <a:buFont typeface="Arial"/>
              <a:buChar char="■"/>
            </a:pPr>
            <a:r>
              <a:rPr lang="pt-BR" sz="2400" dirty="0">
                <a:solidFill>
                  <a:srgbClr val="1F2633"/>
                </a:solidFill>
                <a:latin typeface="Arial"/>
              </a:rPr>
              <a:t>Bacia do Rio Taquari até a estação 86472600 (≈15.800 km²);</a:t>
            </a:r>
          </a:p>
          <a:p>
            <a:pPr marL="252000" indent="-252000" algn="just">
              <a:lnSpc>
                <a:spcPct val="114000"/>
              </a:lnSpc>
              <a:spcAft>
                <a:spcPts val="600"/>
              </a:spcAft>
              <a:buClr>
                <a:srgbClr val="D9661F"/>
              </a:buClr>
              <a:buFont typeface="Arial"/>
              <a:buChar char="■"/>
            </a:pPr>
            <a:r>
              <a:rPr lang="pt-BR" sz="2400" dirty="0">
                <a:solidFill>
                  <a:srgbClr val="1F2633"/>
                </a:solidFill>
                <a:latin typeface="Arial"/>
              </a:rPr>
              <a:t>Dados horários de nível e chuva (2022–2026) do portal </a:t>
            </a:r>
            <a:r>
              <a:rPr lang="pt-BR" sz="2400" dirty="0" err="1">
                <a:solidFill>
                  <a:srgbClr val="1F2633"/>
                </a:solidFill>
                <a:latin typeface="Arial"/>
              </a:rPr>
              <a:t>HidroTelemetria</a:t>
            </a:r>
            <a:r>
              <a:rPr lang="pt-BR" sz="2400" dirty="0">
                <a:solidFill>
                  <a:srgbClr val="1F2633"/>
                </a:solidFill>
                <a:latin typeface="Arial"/>
              </a:rPr>
              <a:t> (ANA);</a:t>
            </a:r>
          </a:p>
          <a:p>
            <a:pPr marL="252000" indent="-252000" algn="just">
              <a:lnSpc>
                <a:spcPct val="114000"/>
              </a:lnSpc>
              <a:spcAft>
                <a:spcPts val="600"/>
              </a:spcAft>
              <a:buClr>
                <a:srgbClr val="D9661F"/>
              </a:buClr>
              <a:buFont typeface="Arial"/>
              <a:buChar char="■"/>
            </a:pPr>
            <a:r>
              <a:rPr lang="pt-BR" sz="2400" dirty="0">
                <a:solidFill>
                  <a:srgbClr val="1F2633"/>
                </a:solidFill>
                <a:latin typeface="Arial"/>
              </a:rPr>
              <a:t>Amostras agrupadas por </a:t>
            </a:r>
            <a:r>
              <a:rPr lang="pt-BR" sz="2400" b="1" dirty="0">
                <a:solidFill>
                  <a:srgbClr val="1F2633"/>
                </a:solidFill>
                <a:latin typeface="Arial"/>
              </a:rPr>
              <a:t>eventos de cheia</a:t>
            </a:r>
            <a:r>
              <a:rPr lang="pt-BR" sz="2400" dirty="0">
                <a:solidFill>
                  <a:srgbClr val="1F2633"/>
                </a:solidFill>
                <a:latin typeface="Arial"/>
              </a:rPr>
              <a:t>, separados em treino, validação e teste.</a:t>
            </a:r>
          </a:p>
        </p:txBody>
      </p:sp>
      <p:pic>
        <p:nvPicPr>
          <p:cNvPr id="22" name="Mapa da bacia" descr="mapa.png"/>
          <p:cNvPicPr>
            <a:picLocks noChangeAspect="1"/>
          </p:cNvPicPr>
          <p:nvPr/>
        </p:nvPicPr>
        <p:blipFill>
          <a:blip r:embed="rId9"/>
          <a:stretch>
            <a:fillRect/>
          </a:stretch>
        </p:blipFill>
        <p:spPr>
          <a:xfrm>
            <a:off x="11683471" y="8446160"/>
            <a:ext cx="8352000" cy="5720358"/>
          </a:xfrm>
          <a:prstGeom prst="rect">
            <a:avLst/>
          </a:prstGeom>
        </p:spPr>
      </p:pic>
      <p:sp>
        <p:nvSpPr>
          <p:cNvPr id="23" name="Legenda mapa"/>
          <p:cNvSpPr txBox="1"/>
          <p:nvPr/>
        </p:nvSpPr>
        <p:spPr>
          <a:xfrm>
            <a:off x="11700000" y="14307931"/>
            <a:ext cx="8352000" cy="288000"/>
          </a:xfrm>
          <a:prstGeom prst="rect">
            <a:avLst/>
          </a:prstGeom>
          <a:noFill/>
        </p:spPr>
        <p:txBody>
          <a:bodyPr wrap="square" lIns="0" tIns="0" rIns="0" bIns="0" anchor="t">
            <a:spAutoFit/>
          </a:bodyPr>
          <a:lstStyle/>
          <a:p>
            <a:pPr algn="l">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1 – Bacia do </a:t>
            </a:r>
            <a:r>
              <a:rPr lang="pt-BR" sz="1800" b="0" i="0" dirty="0">
                <a:solidFill>
                  <a:srgbClr val="5B6573"/>
                </a:solidFill>
                <a:latin typeface="Arial"/>
              </a:rPr>
              <a:t>R</a:t>
            </a:r>
            <a:r>
              <a:rPr sz="1800" b="0" i="0" dirty="0">
                <a:solidFill>
                  <a:srgbClr val="5B6573"/>
                </a:solidFill>
                <a:latin typeface="Arial"/>
              </a:rPr>
              <a:t>io Taquari-Antas </a:t>
            </a:r>
            <a:r>
              <a:rPr sz="1800" b="0" i="0" dirty="0" err="1">
                <a:solidFill>
                  <a:srgbClr val="5B6573"/>
                </a:solidFill>
                <a:latin typeface="Arial"/>
              </a:rPr>
              <a:t>até</a:t>
            </a:r>
            <a:r>
              <a:rPr sz="1800" b="0" i="0" dirty="0">
                <a:solidFill>
                  <a:srgbClr val="5B6573"/>
                </a:solidFill>
                <a:latin typeface="Arial"/>
              </a:rPr>
              <a:t> Santa Tereza e </a:t>
            </a:r>
            <a:r>
              <a:rPr sz="1800" b="0" i="0" dirty="0" err="1">
                <a:solidFill>
                  <a:srgbClr val="5B6573"/>
                </a:solidFill>
                <a:latin typeface="Arial"/>
              </a:rPr>
              <a:t>postos</a:t>
            </a:r>
            <a:r>
              <a:rPr sz="1800" b="0" i="0" dirty="0">
                <a:solidFill>
                  <a:srgbClr val="5B6573"/>
                </a:solidFill>
                <a:latin typeface="Arial"/>
              </a:rPr>
              <a:t> </a:t>
            </a:r>
            <a:r>
              <a:rPr sz="1800" b="0" i="0" dirty="0" err="1">
                <a:solidFill>
                  <a:srgbClr val="5B6573"/>
                </a:solidFill>
                <a:latin typeface="Arial"/>
              </a:rPr>
              <a:t>fluviométricos</a:t>
            </a:r>
            <a:r>
              <a:rPr sz="1800" b="0" i="0" dirty="0">
                <a:solidFill>
                  <a:srgbClr val="5B6573"/>
                </a:solidFill>
                <a:latin typeface="Arial"/>
              </a:rPr>
              <a:t>.</a:t>
            </a:r>
          </a:p>
        </p:txBody>
      </p:sp>
      <p:sp>
        <p:nvSpPr>
          <p:cNvPr id="24" name="Secao METODOLOGIA: ABORDAGEM ALTERNATIVA (ALT)"/>
          <p:cNvSpPr/>
          <p:nvPr/>
        </p:nvSpPr>
        <p:spPr>
          <a:xfrm>
            <a:off x="1080000" y="15402633"/>
            <a:ext cx="11448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METODOLOGIA</a:t>
            </a:r>
          </a:p>
        </p:txBody>
      </p:sp>
      <p:sp>
        <p:nvSpPr>
          <p:cNvPr id="25" name="Etapa 1"/>
          <p:cNvSpPr/>
          <p:nvPr/>
        </p:nvSpPr>
        <p:spPr>
          <a:xfrm>
            <a:off x="1080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a:solidFill>
                  <a:srgbClr val="D9661F"/>
                </a:solidFill>
                <a:latin typeface="Arial"/>
              </a:rPr>
              <a:t>Entradas</a:t>
            </a:r>
          </a:p>
          <a:p>
            <a:pPr algn="ctr">
              <a:lnSpc>
                <a:spcPct val="114000"/>
              </a:lnSpc>
            </a:pPr>
            <a:r>
              <a:rPr lang="pt-BR" dirty="0">
                <a:solidFill>
                  <a:srgbClr val="1F2633"/>
                </a:solidFill>
                <a:latin typeface="Arial"/>
              </a:rPr>
              <a:t>Nível absoluto e diferenças de nível em Santa Tereza e a montante; chuva acumulada</a:t>
            </a:r>
          </a:p>
        </p:txBody>
      </p:sp>
      <p:sp>
        <p:nvSpPr>
          <p:cNvPr id="26" name="Seta 1"/>
          <p:cNvSpPr/>
          <p:nvPr/>
        </p:nvSpPr>
        <p:spPr>
          <a:xfrm>
            <a:off x="5436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tapa 2"/>
          <p:cNvSpPr/>
          <p:nvPr/>
        </p:nvSpPr>
        <p:spPr>
          <a:xfrm>
            <a:off x="6048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a:solidFill>
                  <a:srgbClr val="D9661F"/>
                </a:solidFill>
                <a:latin typeface="Arial"/>
              </a:rPr>
              <a:t>RNA MLP</a:t>
            </a:r>
          </a:p>
          <a:p>
            <a:pPr algn="ctr">
              <a:lnSpc>
                <a:spcPct val="114000"/>
              </a:lnSpc>
            </a:pPr>
            <a:r>
              <a:rPr sz="1800" b="0" i="0" dirty="0">
                <a:solidFill>
                  <a:srgbClr val="1F2633"/>
                </a:solidFill>
                <a:latin typeface="Arial"/>
              </a:rPr>
              <a:t>1 </a:t>
            </a:r>
            <a:r>
              <a:rPr sz="1800" b="0" i="0" dirty="0" err="1">
                <a:solidFill>
                  <a:srgbClr val="1F2633"/>
                </a:solidFill>
                <a:latin typeface="Arial"/>
              </a:rPr>
              <a:t>camada</a:t>
            </a:r>
            <a:r>
              <a:rPr sz="1800" b="0" i="0" dirty="0">
                <a:solidFill>
                  <a:srgbClr val="1F2633"/>
                </a:solidFill>
                <a:latin typeface="Arial"/>
              </a:rPr>
              <a:t> </a:t>
            </a:r>
            <a:r>
              <a:rPr sz="1800" b="0" i="0" dirty="0" err="1">
                <a:solidFill>
                  <a:srgbClr val="1F2633"/>
                </a:solidFill>
                <a:latin typeface="Arial"/>
              </a:rPr>
              <a:t>oculta</a:t>
            </a:r>
            <a:r>
              <a:rPr sz="1800" b="0" i="0" dirty="0">
                <a:solidFill>
                  <a:srgbClr val="1F2633"/>
                </a:solidFill>
                <a:latin typeface="Arial"/>
              </a:rPr>
              <a:t> · </a:t>
            </a:r>
            <a:r>
              <a:rPr sz="1800" b="0" i="0" dirty="0" err="1">
                <a:solidFill>
                  <a:srgbClr val="1F2633"/>
                </a:solidFill>
                <a:latin typeface="Arial"/>
              </a:rPr>
              <a:t>sigmoide</a:t>
            </a:r>
            <a:r>
              <a:rPr sz="1800" b="0" i="0" dirty="0">
                <a:solidFill>
                  <a:srgbClr val="1F2633"/>
                </a:solidFill>
                <a:latin typeface="Arial"/>
              </a:rPr>
              <a:t> · </a:t>
            </a:r>
            <a:r>
              <a:rPr sz="1800" b="0" i="0" dirty="0" err="1">
                <a:solidFill>
                  <a:srgbClr val="1F2633"/>
                </a:solidFill>
                <a:latin typeface="Arial"/>
              </a:rPr>
              <a:t>retropropagação</a:t>
            </a:r>
            <a:r>
              <a:rPr sz="1800" b="0" i="0" dirty="0">
                <a:solidFill>
                  <a:srgbClr val="1F2633"/>
                </a:solidFill>
                <a:latin typeface="Arial"/>
              </a:rPr>
              <a:t> com </a:t>
            </a:r>
            <a:r>
              <a:rPr sz="1800" b="0" i="0" dirty="0" err="1">
                <a:solidFill>
                  <a:srgbClr val="1F2633"/>
                </a:solidFill>
                <a:latin typeface="Arial"/>
              </a:rPr>
              <a:t>gradiente</a:t>
            </a:r>
            <a:r>
              <a:rPr sz="1800" b="0" i="0" dirty="0">
                <a:solidFill>
                  <a:srgbClr val="1F2633"/>
                </a:solidFill>
                <a:latin typeface="Arial"/>
              </a:rPr>
              <a:t> </a:t>
            </a:r>
            <a:r>
              <a:rPr sz="1800" b="0" i="0" dirty="0" err="1">
                <a:solidFill>
                  <a:srgbClr val="1F2633"/>
                </a:solidFill>
                <a:latin typeface="Arial"/>
              </a:rPr>
              <a:t>adaptativo</a:t>
            </a:r>
            <a:endParaRPr sz="1800" b="0" i="0" dirty="0">
              <a:solidFill>
                <a:srgbClr val="1F2633"/>
              </a:solidFill>
              <a:latin typeface="Arial"/>
            </a:endParaRPr>
          </a:p>
        </p:txBody>
      </p:sp>
      <p:sp>
        <p:nvSpPr>
          <p:cNvPr id="28" name="Seta 2"/>
          <p:cNvSpPr/>
          <p:nvPr/>
        </p:nvSpPr>
        <p:spPr>
          <a:xfrm>
            <a:off x="10404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tapa 3"/>
          <p:cNvSpPr/>
          <p:nvPr/>
        </p:nvSpPr>
        <p:spPr>
          <a:xfrm>
            <a:off x="11016000" y="16128000"/>
            <a:ext cx="4248000" cy="1584000"/>
          </a:xfrm>
          <a:prstGeom prst="roundRect">
            <a:avLst>
              <a:gd name="adj" fmla="val 12000"/>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dirty="0" err="1">
                <a:solidFill>
                  <a:srgbClr val="D9661F"/>
                </a:solidFill>
                <a:latin typeface="Arial"/>
              </a:rPr>
              <a:t>Saída</a:t>
            </a:r>
            <a:r>
              <a:rPr sz="2400" b="1" i="0" dirty="0">
                <a:solidFill>
                  <a:srgbClr val="D9661F"/>
                </a:solidFill>
                <a:latin typeface="Arial"/>
              </a:rPr>
              <a:t> da RNA</a:t>
            </a:r>
          </a:p>
          <a:p>
            <a:pPr algn="ctr"/>
            <a:r>
              <a:rPr sz="1800" b="0" i="0" dirty="0" err="1">
                <a:solidFill>
                  <a:srgbClr val="1F2633"/>
                </a:solidFill>
                <a:latin typeface="Arial"/>
              </a:rPr>
              <a:t>variação</a:t>
            </a:r>
            <a:r>
              <a:rPr sz="1800" b="0" i="0" dirty="0">
                <a:solidFill>
                  <a:srgbClr val="1F2633"/>
                </a:solidFill>
                <a:latin typeface="Arial"/>
              </a:rPr>
              <a:t> do </a:t>
            </a:r>
            <a:r>
              <a:rPr sz="1800" b="0" i="0" dirty="0" err="1">
                <a:solidFill>
                  <a:srgbClr val="1F2633"/>
                </a:solidFill>
                <a:latin typeface="Arial"/>
              </a:rPr>
              <a:t>nível</a:t>
            </a:r>
            <a:r>
              <a:rPr sz="1800" b="0" i="0" dirty="0">
                <a:solidFill>
                  <a:srgbClr val="1F2633"/>
                </a:solidFill>
                <a:latin typeface="Arial"/>
              </a:rPr>
              <a:t> ΔH = H(</a:t>
            </a:r>
            <a:r>
              <a:rPr sz="1800" b="0" i="0" dirty="0" err="1">
                <a:solidFill>
                  <a:srgbClr val="1F2633"/>
                </a:solidFill>
                <a:latin typeface="Arial"/>
              </a:rPr>
              <a:t>t+h</a:t>
            </a:r>
            <a:r>
              <a:rPr sz="1800" b="0" i="0" dirty="0">
                <a:solidFill>
                  <a:srgbClr val="1F2633"/>
                </a:solidFill>
                <a:latin typeface="Arial"/>
              </a:rPr>
              <a:t>) − H(t)</a:t>
            </a:r>
          </a:p>
        </p:txBody>
      </p:sp>
      <p:sp>
        <p:nvSpPr>
          <p:cNvPr id="30" name="Seta 3"/>
          <p:cNvSpPr/>
          <p:nvPr/>
        </p:nvSpPr>
        <p:spPr>
          <a:xfrm>
            <a:off x="15372000" y="16704000"/>
            <a:ext cx="504000" cy="432000"/>
          </a:xfrm>
          <a:prstGeom prst="rightArrow">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tapa 4"/>
          <p:cNvSpPr/>
          <p:nvPr/>
        </p:nvSpPr>
        <p:spPr>
          <a:xfrm>
            <a:off x="15984000" y="16128000"/>
            <a:ext cx="4248000" cy="1584000"/>
          </a:xfrm>
          <a:prstGeom prst="roundRect">
            <a:avLst>
              <a:gd name="adj" fmla="val 12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72000" rIns="144000" bIns="72000" rtlCol="0" anchor="ctr"/>
          <a:lstStyle/>
          <a:p>
            <a:pPr algn="ctr"/>
            <a:r>
              <a:rPr sz="2400" b="1" i="0">
                <a:solidFill>
                  <a:srgbClr val="FFFFFF"/>
                </a:solidFill>
                <a:latin typeface="Arial"/>
              </a:rPr>
              <a:t>Nível previsto</a:t>
            </a:r>
          </a:p>
          <a:p>
            <a:pPr algn="ctr"/>
            <a:r>
              <a:rPr sz="1800" b="0" i="0">
                <a:solidFill>
                  <a:srgbClr val="FFFFFF"/>
                </a:solidFill>
                <a:latin typeface="Arial"/>
              </a:rPr>
              <a:t>Ĥ(t+h) = H(t) + ΔH</a:t>
            </a:r>
          </a:p>
        </p:txBody>
      </p:sp>
      <p:sp>
        <p:nvSpPr>
          <p:cNvPr id="32" name="Texto metodologia"/>
          <p:cNvSpPr txBox="1"/>
          <p:nvPr/>
        </p:nvSpPr>
        <p:spPr>
          <a:xfrm>
            <a:off x="1080000" y="18036000"/>
            <a:ext cx="9360000" cy="1827616"/>
          </a:xfrm>
          <a:prstGeom prst="rect">
            <a:avLst/>
          </a:prstGeom>
          <a:noFill/>
        </p:spPr>
        <p:txBody>
          <a:bodyPr wrap="square" lIns="0" tIns="0" rIns="0" bIns="0" anchor="t">
            <a:spAutoFit/>
          </a:bodyPr>
          <a:lstStyle/>
          <a:p>
            <a:pPr marL="252000" indent="-252000" algn="just">
              <a:lnSpc>
                <a:spcPct val="114000"/>
              </a:lnSpc>
              <a:spcAft>
                <a:spcPts val="400"/>
              </a:spcAft>
              <a:buClr>
                <a:srgbClr val="D9661F"/>
              </a:buClr>
              <a:buFont typeface="Arial"/>
              <a:buChar char="■"/>
            </a:pPr>
            <a:r>
              <a:rPr sz="2000" b="0" i="0" dirty="0" err="1">
                <a:solidFill>
                  <a:srgbClr val="1F2633"/>
                </a:solidFill>
                <a:latin typeface="Arial"/>
              </a:rPr>
              <a:t>Neurônios</a:t>
            </a:r>
            <a:r>
              <a:rPr sz="2000" b="0" i="0" dirty="0">
                <a:solidFill>
                  <a:srgbClr val="1F2633"/>
                </a:solidFill>
                <a:latin typeface="Arial"/>
              </a:rPr>
              <a:t> </a:t>
            </a:r>
            <a:r>
              <a:rPr sz="2000" b="0" i="0" dirty="0" err="1">
                <a:solidFill>
                  <a:srgbClr val="1F2633"/>
                </a:solidFill>
                <a:latin typeface="Arial"/>
              </a:rPr>
              <a:t>ocultos</a:t>
            </a:r>
            <a:r>
              <a:rPr sz="2000" b="0" i="0" dirty="0">
                <a:solidFill>
                  <a:srgbClr val="1F2633"/>
                </a:solidFill>
                <a:latin typeface="Arial"/>
              </a:rPr>
              <a:t> ≈ 2 × nº de entradas; 10 </a:t>
            </a:r>
            <a:r>
              <a:rPr sz="2000" b="0" i="0" dirty="0" err="1">
                <a:solidFill>
                  <a:srgbClr val="1F2633"/>
                </a:solidFill>
                <a:latin typeface="Arial"/>
              </a:rPr>
              <a:t>inicializações</a:t>
            </a:r>
            <a:r>
              <a:rPr sz="2000" b="0" i="0" dirty="0">
                <a:solidFill>
                  <a:srgbClr val="1F2633"/>
                </a:solidFill>
                <a:latin typeface="Arial"/>
              </a:rPr>
              <a:t> </a:t>
            </a:r>
            <a:r>
              <a:rPr sz="2000" b="0" i="0" dirty="0" err="1">
                <a:solidFill>
                  <a:srgbClr val="1F2633"/>
                </a:solidFill>
                <a:latin typeface="Arial"/>
              </a:rPr>
              <a:t>por</a:t>
            </a:r>
            <a:r>
              <a:rPr sz="2000" b="0" i="0" dirty="0">
                <a:solidFill>
                  <a:srgbClr val="1F2633"/>
                </a:solidFill>
                <a:latin typeface="Arial"/>
              </a:rPr>
              <a:t> rede</a:t>
            </a:r>
          </a:p>
          <a:p>
            <a:pPr marL="252000" indent="-252000" algn="just">
              <a:lnSpc>
                <a:spcPct val="114000"/>
              </a:lnSpc>
              <a:spcAft>
                <a:spcPts val="400"/>
              </a:spcAft>
              <a:buClr>
                <a:srgbClr val="D9661F"/>
              </a:buClr>
              <a:buFont typeface="Arial"/>
              <a:buChar char="■"/>
            </a:pPr>
            <a:r>
              <a:rPr sz="2000" b="0" i="0" dirty="0">
                <a:solidFill>
                  <a:srgbClr val="1F2633"/>
                </a:solidFill>
                <a:latin typeface="Arial"/>
              </a:rPr>
              <a:t>Entradas </a:t>
            </a:r>
            <a:r>
              <a:rPr sz="2000" b="0" i="0" dirty="0" err="1">
                <a:solidFill>
                  <a:srgbClr val="1F2633"/>
                </a:solidFill>
                <a:latin typeface="Arial"/>
              </a:rPr>
              <a:t>escolhidas</a:t>
            </a:r>
            <a:r>
              <a:rPr sz="2000" b="0" i="0" dirty="0">
                <a:solidFill>
                  <a:srgbClr val="1F2633"/>
                </a:solidFill>
                <a:latin typeface="Arial"/>
              </a:rPr>
              <a:t> </a:t>
            </a:r>
            <a:r>
              <a:rPr sz="2000" b="0" i="0" dirty="0" err="1">
                <a:solidFill>
                  <a:srgbClr val="1F2633"/>
                </a:solidFill>
                <a:latin typeface="Arial"/>
              </a:rPr>
              <a:t>por</a:t>
            </a:r>
            <a:r>
              <a:rPr sz="2000" b="0" i="0" dirty="0">
                <a:solidFill>
                  <a:srgbClr val="1F2633"/>
                </a:solidFill>
                <a:latin typeface="Arial"/>
              </a:rPr>
              <a:t> </a:t>
            </a:r>
            <a:r>
              <a:rPr sz="2000" b="0" i="0" dirty="0" err="1">
                <a:solidFill>
                  <a:srgbClr val="1F2633"/>
                </a:solidFill>
                <a:latin typeface="Arial"/>
              </a:rPr>
              <a:t>algoritmo</a:t>
            </a:r>
            <a:r>
              <a:rPr sz="2000" b="0" i="0" dirty="0">
                <a:solidFill>
                  <a:srgbClr val="1F2633"/>
                </a:solidFill>
                <a:latin typeface="Arial"/>
              </a:rPr>
              <a:t> de </a:t>
            </a:r>
            <a:r>
              <a:rPr sz="2000" b="0" i="0" dirty="0" err="1">
                <a:solidFill>
                  <a:srgbClr val="1F2633"/>
                </a:solidFill>
                <a:latin typeface="Arial"/>
              </a:rPr>
              <a:t>busca</a:t>
            </a:r>
            <a:r>
              <a:rPr sz="2000" b="0" i="0" dirty="0">
                <a:solidFill>
                  <a:srgbClr val="1F2633"/>
                </a:solidFill>
                <a:latin typeface="Arial"/>
              </a:rPr>
              <a:t> </a:t>
            </a:r>
            <a:r>
              <a:rPr sz="2000" b="0" i="0" dirty="0" err="1">
                <a:solidFill>
                  <a:srgbClr val="1F2633"/>
                </a:solidFill>
                <a:latin typeface="Arial"/>
              </a:rPr>
              <a:t>em</a:t>
            </a:r>
            <a:r>
              <a:rPr sz="2000" b="0" i="0" dirty="0">
                <a:solidFill>
                  <a:srgbClr val="1F2633"/>
                </a:solidFill>
                <a:latin typeface="Arial"/>
              </a:rPr>
              <a:t> Python; redes </a:t>
            </a:r>
            <a:r>
              <a:rPr sz="2000" b="0" i="0" dirty="0" err="1">
                <a:solidFill>
                  <a:srgbClr val="1F2633"/>
                </a:solidFill>
                <a:latin typeface="Arial"/>
              </a:rPr>
              <a:t>treinadas</a:t>
            </a:r>
            <a:r>
              <a:rPr sz="2000" b="0" i="0" dirty="0">
                <a:solidFill>
                  <a:srgbClr val="1F2633"/>
                </a:solidFill>
                <a:latin typeface="Arial"/>
              </a:rPr>
              <a:t> no MATLAB</a:t>
            </a:r>
          </a:p>
          <a:p>
            <a:pPr marL="252000" indent="-252000" algn="just">
              <a:lnSpc>
                <a:spcPct val="114000"/>
              </a:lnSpc>
              <a:spcAft>
                <a:spcPts val="400"/>
              </a:spcAft>
              <a:buClr>
                <a:srgbClr val="D9661F"/>
              </a:buClr>
              <a:buFont typeface="Arial"/>
              <a:buChar char="■"/>
            </a:pPr>
            <a:r>
              <a:rPr sz="2000" b="0" i="0" dirty="0" err="1">
                <a:solidFill>
                  <a:srgbClr val="1F2633"/>
                </a:solidFill>
                <a:latin typeface="Arial"/>
              </a:rPr>
              <a:t>Avaliação</a:t>
            </a:r>
            <a:r>
              <a:rPr sz="2000" b="0" i="0" dirty="0">
                <a:solidFill>
                  <a:srgbClr val="1F2633"/>
                </a:solidFill>
                <a:latin typeface="Arial"/>
              </a:rPr>
              <a:t>: NSE, PME (</a:t>
            </a:r>
            <a:r>
              <a:rPr sz="2000" b="0" i="0" dirty="0" err="1">
                <a:solidFill>
                  <a:srgbClr val="1F2633"/>
                </a:solidFill>
                <a:latin typeface="Arial"/>
              </a:rPr>
              <a:t>ganho</a:t>
            </a:r>
            <a:r>
              <a:rPr sz="2000" b="0" i="0" dirty="0">
                <a:solidFill>
                  <a:srgbClr val="1F2633"/>
                </a:solidFill>
                <a:latin typeface="Arial"/>
              </a:rPr>
              <a:t> </a:t>
            </a:r>
            <a:r>
              <a:rPr sz="2000" b="0" i="0" dirty="0" err="1">
                <a:solidFill>
                  <a:srgbClr val="1F2633"/>
                </a:solidFill>
                <a:latin typeface="Arial"/>
              </a:rPr>
              <a:t>sobre</a:t>
            </a:r>
            <a:r>
              <a:rPr sz="2000" b="0" i="0" dirty="0">
                <a:solidFill>
                  <a:srgbClr val="1F2633"/>
                </a:solidFill>
                <a:latin typeface="Arial"/>
              </a:rPr>
              <a:t> a </a:t>
            </a:r>
            <a:r>
              <a:rPr sz="2000" b="0" i="0" dirty="0" err="1">
                <a:solidFill>
                  <a:srgbClr val="1F2633"/>
                </a:solidFill>
                <a:latin typeface="Arial"/>
              </a:rPr>
              <a:t>persistência</a:t>
            </a:r>
            <a:r>
              <a:rPr sz="2000" b="0" i="0" dirty="0">
                <a:solidFill>
                  <a:srgbClr val="1F2633"/>
                </a:solidFill>
                <a:latin typeface="Arial"/>
              </a:rPr>
              <a:t>), EAM e E95 (</a:t>
            </a:r>
            <a:r>
              <a:rPr sz="2000" b="0" i="0" dirty="0" err="1">
                <a:solidFill>
                  <a:srgbClr val="1F2633"/>
                </a:solidFill>
                <a:latin typeface="Arial"/>
              </a:rPr>
              <a:t>erro</a:t>
            </a:r>
            <a:r>
              <a:rPr sz="2000" b="0" i="0" dirty="0">
                <a:solidFill>
                  <a:srgbClr val="1F2633"/>
                </a:solidFill>
                <a:latin typeface="Arial"/>
              </a:rPr>
              <a:t> </a:t>
            </a:r>
            <a:r>
              <a:rPr sz="2000" b="0" i="0" dirty="0" err="1">
                <a:solidFill>
                  <a:srgbClr val="1F2633"/>
                </a:solidFill>
                <a:latin typeface="Arial"/>
              </a:rPr>
              <a:t>não</a:t>
            </a:r>
            <a:r>
              <a:rPr sz="2000" b="0" i="0" dirty="0">
                <a:solidFill>
                  <a:srgbClr val="1F2633"/>
                </a:solidFill>
                <a:latin typeface="Arial"/>
              </a:rPr>
              <a:t> </a:t>
            </a:r>
            <a:r>
              <a:rPr sz="2000" b="0" i="0" dirty="0" err="1">
                <a:solidFill>
                  <a:srgbClr val="1F2633"/>
                </a:solidFill>
                <a:latin typeface="Arial"/>
              </a:rPr>
              <a:t>superado</a:t>
            </a:r>
            <a:r>
              <a:rPr sz="2000" b="0" i="0" dirty="0">
                <a:solidFill>
                  <a:srgbClr val="1F2633"/>
                </a:solidFill>
                <a:latin typeface="Arial"/>
              </a:rPr>
              <a:t> </a:t>
            </a:r>
            <a:r>
              <a:rPr sz="2000" b="0" i="0" dirty="0" err="1">
                <a:solidFill>
                  <a:srgbClr val="1F2633"/>
                </a:solidFill>
                <a:latin typeface="Arial"/>
              </a:rPr>
              <a:t>em</a:t>
            </a:r>
            <a:r>
              <a:rPr sz="2000" b="0" i="0" dirty="0">
                <a:solidFill>
                  <a:srgbClr val="1F2633"/>
                </a:solidFill>
                <a:latin typeface="Arial"/>
              </a:rPr>
              <a:t> 95%)</a:t>
            </a:r>
          </a:p>
        </p:txBody>
      </p:sp>
      <p:graphicFrame>
        <p:nvGraphicFramePr>
          <p:cNvPr id="33" name="Tabela configuracao"/>
          <p:cNvGraphicFramePr>
            <a:graphicFrameLocks noGrp="1"/>
          </p:cNvGraphicFramePr>
          <p:nvPr>
            <p:extLst>
              <p:ext uri="{D42A27DB-BD31-4B8C-83A1-F6EECF244321}">
                <p14:modId xmlns:p14="http://schemas.microsoft.com/office/powerpoint/2010/main" val="1612580448"/>
              </p:ext>
            </p:extLst>
          </p:nvPr>
        </p:nvGraphicFramePr>
        <p:xfrm>
          <a:off x="10944000" y="18036000"/>
          <a:ext cx="9360000" cy="1909680"/>
        </p:xfrm>
        <a:graphic>
          <a:graphicData uri="http://schemas.openxmlformats.org/drawingml/2006/table">
            <a:tbl>
              <a:tblPr>
                <a:tableStyleId>{5C22544A-7EE6-4342-B048-85BDC9FD1C3A}</a:tableStyleId>
              </a:tblPr>
              <a:tblGrid>
                <a:gridCol w="1032353">
                  <a:extLst>
                    <a:ext uri="{9D8B030D-6E8A-4147-A177-3AD203B41FA5}">
                      <a16:colId xmlns:a16="http://schemas.microsoft.com/office/drawing/2014/main" val="20000"/>
                    </a:ext>
                  </a:extLst>
                </a:gridCol>
                <a:gridCol w="1307647">
                  <a:extLst>
                    <a:ext uri="{9D8B030D-6E8A-4147-A177-3AD203B41FA5}">
                      <a16:colId xmlns:a16="http://schemas.microsoft.com/office/drawing/2014/main" val="20001"/>
                    </a:ext>
                  </a:extLst>
                </a:gridCol>
                <a:gridCol w="1445294">
                  <a:extLst>
                    <a:ext uri="{9D8B030D-6E8A-4147-A177-3AD203B41FA5}">
                      <a16:colId xmlns:a16="http://schemas.microsoft.com/office/drawing/2014/main" val="20002"/>
                    </a:ext>
                  </a:extLst>
                </a:gridCol>
                <a:gridCol w="5574706">
                  <a:extLst>
                    <a:ext uri="{9D8B030D-6E8A-4147-A177-3AD203B41FA5}">
                      <a16:colId xmlns:a16="http://schemas.microsoft.com/office/drawing/2014/main" val="20003"/>
                    </a:ext>
                  </a:extLst>
                </a:gridCol>
              </a:tblGrid>
              <a:tr h="450000">
                <a:tc>
                  <a:txBody>
                    <a:bodyPr/>
                    <a:lstStyle/>
                    <a:p>
                      <a:pPr algn="l"/>
                      <a:r>
                        <a:rPr sz="1900" b="1" i="0">
                          <a:solidFill>
                            <a:srgbClr val="FFFFFF"/>
                          </a:solidFill>
                          <a:latin typeface="Arial"/>
                        </a:rPr>
                        <a:t>Modelo</a:t>
                      </a:r>
                    </a:p>
                  </a:txBody>
                  <a:tcPr marL="90000" marR="90000" marT="36000" marB="36000" anchor="ctr">
                    <a:solidFill>
                      <a:srgbClr val="2A378D"/>
                    </a:solidFill>
                  </a:tcPr>
                </a:tc>
                <a:tc>
                  <a:txBody>
                    <a:bodyPr/>
                    <a:lstStyle/>
                    <a:p>
                      <a:pPr algn="ctr"/>
                      <a:r>
                        <a:rPr sz="1900" b="1" i="0">
                          <a:solidFill>
                            <a:srgbClr val="FFFFFF"/>
                          </a:solidFill>
                          <a:latin typeface="Arial"/>
                        </a:rPr>
                        <a:t>Entradas</a:t>
                      </a:r>
                    </a:p>
                  </a:txBody>
                  <a:tcPr marL="90000" marR="90000" marT="36000" marB="36000" anchor="ctr">
                    <a:solidFill>
                      <a:srgbClr val="2A378D"/>
                    </a:solidFill>
                  </a:tcPr>
                </a:tc>
                <a:tc>
                  <a:txBody>
                    <a:bodyPr/>
                    <a:lstStyle/>
                    <a:p>
                      <a:pPr algn="ctr"/>
                      <a:r>
                        <a:rPr sz="1900" b="1" i="0">
                          <a:solidFill>
                            <a:srgbClr val="FFFFFF"/>
                          </a:solidFill>
                          <a:latin typeface="Arial"/>
                        </a:rPr>
                        <a:t>Neurônios</a:t>
                      </a:r>
                    </a:p>
                  </a:txBody>
                  <a:tcPr marL="90000" marR="90000" marT="36000" marB="36000" anchor="ctr">
                    <a:solidFill>
                      <a:srgbClr val="2A378D"/>
                    </a:solidFill>
                  </a:tcPr>
                </a:tc>
                <a:tc>
                  <a:txBody>
                    <a:bodyPr/>
                    <a:lstStyle/>
                    <a:p>
                      <a:pPr algn="ctr"/>
                      <a:r>
                        <a:rPr sz="1900" b="1" i="0">
                          <a:solidFill>
                            <a:srgbClr val="FFFFFF"/>
                          </a:solidFill>
                          <a:latin typeface="Arial"/>
                        </a:rPr>
                        <a:t>Estações (código)</a:t>
                      </a:r>
                    </a:p>
                  </a:txBody>
                  <a:tcPr marL="90000" marR="90000" marT="36000" marB="36000" anchor="ctr">
                    <a:solidFill>
                      <a:srgbClr val="2A378D"/>
                    </a:solidFill>
                  </a:tcPr>
                </a:tc>
                <a:extLst>
                  <a:ext uri="{0D108BD9-81ED-4DB2-BD59-A6C34878D82A}">
                    <a16:rowId xmlns:a16="http://schemas.microsoft.com/office/drawing/2014/main" val="10000"/>
                  </a:ext>
                </a:extLst>
              </a:tr>
              <a:tr h="450000">
                <a:tc>
                  <a:txBody>
                    <a:bodyPr/>
                    <a:lstStyle/>
                    <a:p>
                      <a:pPr algn="l"/>
                      <a:r>
                        <a:rPr sz="1900" b="1" i="0">
                          <a:solidFill>
                            <a:srgbClr val="1F2633"/>
                          </a:solidFill>
                          <a:latin typeface="Arial"/>
                        </a:rPr>
                        <a:t>ALT 2h</a:t>
                      </a:r>
                    </a:p>
                  </a:txBody>
                  <a:tcPr marL="90000" marR="90000" marT="36000" marB="36000" anchor="ctr">
                    <a:solidFill>
                      <a:srgbClr val="FFFFFF"/>
                    </a:solidFill>
                  </a:tcPr>
                </a:tc>
                <a:tc>
                  <a:txBody>
                    <a:bodyPr/>
                    <a:lstStyle/>
                    <a:p>
                      <a:pPr algn="ctr"/>
                      <a:r>
                        <a:rPr sz="1900" b="0" i="0">
                          <a:solidFill>
                            <a:srgbClr val="1F2633"/>
                          </a:solidFill>
                          <a:latin typeface="Arial"/>
                        </a:rPr>
                        <a:t>15</a:t>
                      </a:r>
                    </a:p>
                  </a:txBody>
                  <a:tcPr marL="90000" marR="90000" marT="36000" marB="36000" anchor="ctr">
                    <a:solidFill>
                      <a:srgbClr val="FFFFFF"/>
                    </a:solidFill>
                  </a:tcPr>
                </a:tc>
                <a:tc>
                  <a:txBody>
                    <a:bodyPr/>
                    <a:lstStyle/>
                    <a:p>
                      <a:pPr algn="ctr"/>
                      <a:r>
                        <a:rPr sz="1900" b="0" i="0">
                          <a:solidFill>
                            <a:srgbClr val="1F2633"/>
                          </a:solidFill>
                          <a:latin typeface="Arial"/>
                        </a:rPr>
                        <a:t>30</a:t>
                      </a:r>
                    </a:p>
                  </a:txBody>
                  <a:tcPr marL="90000" marR="90000" marT="36000" marB="36000" anchor="ctr">
                    <a:solidFill>
                      <a:srgbClr val="FFFFFF"/>
                    </a:solidFill>
                  </a:tcPr>
                </a:tc>
                <a:tc>
                  <a:txBody>
                    <a:bodyPr/>
                    <a:lstStyle/>
                    <a:p>
                      <a:pPr algn="l"/>
                      <a:r>
                        <a:rPr lang="pt-BR" sz="1600" b="0" i="0" dirty="0">
                          <a:solidFill>
                            <a:srgbClr val="1F2633"/>
                          </a:solidFill>
                          <a:latin typeface="Arial"/>
                        </a:rPr>
                        <a:t>86472600, 86472000</a:t>
                      </a:r>
                    </a:p>
                  </a:txBody>
                  <a:tcPr marL="90000" marR="90000" marT="36000" marB="36000" anchor="ctr">
                    <a:solidFill>
                      <a:srgbClr val="FFFFFF"/>
                    </a:solidFill>
                  </a:tcPr>
                </a:tc>
                <a:extLst>
                  <a:ext uri="{0D108BD9-81ED-4DB2-BD59-A6C34878D82A}">
                    <a16:rowId xmlns:a16="http://schemas.microsoft.com/office/drawing/2014/main" val="10001"/>
                  </a:ext>
                </a:extLst>
              </a:tr>
              <a:tr h="450000">
                <a:tc>
                  <a:txBody>
                    <a:bodyPr/>
                    <a:lstStyle/>
                    <a:p>
                      <a:pPr algn="l"/>
                      <a:r>
                        <a:rPr sz="1900" b="1" i="0">
                          <a:solidFill>
                            <a:srgbClr val="1F2633"/>
                          </a:solidFill>
                          <a:latin typeface="Arial"/>
                        </a:rPr>
                        <a:t>ALT 4h</a:t>
                      </a:r>
                    </a:p>
                  </a:txBody>
                  <a:tcPr marL="90000" marR="90000" marT="36000" marB="36000" anchor="ctr">
                    <a:solidFill>
                      <a:srgbClr val="E6EEF5"/>
                    </a:solidFill>
                  </a:tcPr>
                </a:tc>
                <a:tc>
                  <a:txBody>
                    <a:bodyPr/>
                    <a:lstStyle/>
                    <a:p>
                      <a:pPr algn="ctr"/>
                      <a:r>
                        <a:rPr sz="1900" b="0" i="0">
                          <a:solidFill>
                            <a:srgbClr val="1F2633"/>
                          </a:solidFill>
                          <a:latin typeface="Arial"/>
                        </a:rPr>
                        <a:t>26</a:t>
                      </a:r>
                    </a:p>
                  </a:txBody>
                  <a:tcPr marL="90000" marR="90000" marT="36000" marB="36000" anchor="ctr">
                    <a:solidFill>
                      <a:srgbClr val="E6EEF5"/>
                    </a:solidFill>
                  </a:tcPr>
                </a:tc>
                <a:tc>
                  <a:txBody>
                    <a:bodyPr/>
                    <a:lstStyle/>
                    <a:p>
                      <a:pPr algn="ctr"/>
                      <a:r>
                        <a:rPr sz="1900" b="0" i="0">
                          <a:solidFill>
                            <a:srgbClr val="1F2633"/>
                          </a:solidFill>
                          <a:latin typeface="Arial"/>
                        </a:rPr>
                        <a:t>52</a:t>
                      </a:r>
                    </a:p>
                  </a:txBody>
                  <a:tcPr marL="90000" marR="90000" marT="36000" marB="36000" anchor="ctr">
                    <a:solidFill>
                      <a:srgbClr val="E6EEF5"/>
                    </a:solidFill>
                  </a:tcPr>
                </a:tc>
                <a:tc>
                  <a:txBody>
                    <a:bodyPr/>
                    <a:lstStyle/>
                    <a:p>
                      <a:pPr algn="l"/>
                      <a:r>
                        <a:rPr sz="1600" b="0" i="0" dirty="0">
                          <a:solidFill>
                            <a:srgbClr val="1F2633"/>
                          </a:solidFill>
                          <a:latin typeface="Arial"/>
                        </a:rPr>
                        <a:t>86472600, 86472000, 86125500, 86298000</a:t>
                      </a:r>
                      <a:endParaRPr sz="1900" b="0" i="0" dirty="0">
                        <a:solidFill>
                          <a:srgbClr val="1F2633"/>
                        </a:solidFill>
                        <a:latin typeface="Arial"/>
                      </a:endParaRPr>
                    </a:p>
                  </a:txBody>
                  <a:tcPr marL="90000" marR="90000" marT="36000" marB="36000" anchor="ctr">
                    <a:solidFill>
                      <a:srgbClr val="E6EEF5"/>
                    </a:solidFill>
                  </a:tcPr>
                </a:tc>
                <a:extLst>
                  <a:ext uri="{0D108BD9-81ED-4DB2-BD59-A6C34878D82A}">
                    <a16:rowId xmlns:a16="http://schemas.microsoft.com/office/drawing/2014/main" val="10002"/>
                  </a:ext>
                </a:extLst>
              </a:tr>
              <a:tr h="450000">
                <a:tc>
                  <a:txBody>
                    <a:bodyPr/>
                    <a:lstStyle/>
                    <a:p>
                      <a:pPr algn="l"/>
                      <a:r>
                        <a:rPr sz="1900" b="1" i="0">
                          <a:solidFill>
                            <a:srgbClr val="1F2633"/>
                          </a:solidFill>
                          <a:latin typeface="Arial"/>
                        </a:rPr>
                        <a:t>ALT 8h</a:t>
                      </a:r>
                    </a:p>
                  </a:txBody>
                  <a:tcPr marL="90000" marR="90000" marT="36000" marB="36000" anchor="ctr">
                    <a:solidFill>
                      <a:srgbClr val="FFFFFF"/>
                    </a:solidFill>
                  </a:tcPr>
                </a:tc>
                <a:tc>
                  <a:txBody>
                    <a:bodyPr/>
                    <a:lstStyle/>
                    <a:p>
                      <a:pPr algn="ctr"/>
                      <a:r>
                        <a:rPr sz="1900" b="0" i="0">
                          <a:solidFill>
                            <a:srgbClr val="1F2633"/>
                          </a:solidFill>
                          <a:latin typeface="Arial"/>
                        </a:rPr>
                        <a:t>31</a:t>
                      </a:r>
                    </a:p>
                  </a:txBody>
                  <a:tcPr marL="90000" marR="90000" marT="36000" marB="36000" anchor="ctr">
                    <a:solidFill>
                      <a:srgbClr val="FFFFFF"/>
                    </a:solidFill>
                  </a:tcPr>
                </a:tc>
                <a:tc>
                  <a:txBody>
                    <a:bodyPr/>
                    <a:lstStyle/>
                    <a:p>
                      <a:pPr algn="ctr"/>
                      <a:r>
                        <a:rPr sz="1900" b="0" i="0">
                          <a:solidFill>
                            <a:srgbClr val="1F2633"/>
                          </a:solidFill>
                          <a:latin typeface="Arial"/>
                        </a:rPr>
                        <a:t>63</a:t>
                      </a:r>
                    </a:p>
                  </a:txBody>
                  <a:tcPr marL="90000" marR="90000" marT="36000" marB="36000" anchor="ctr">
                    <a:solidFill>
                      <a:srgbClr val="FFFFFF"/>
                    </a:solidFill>
                  </a:tcPr>
                </a:tc>
                <a:tc>
                  <a:txBody>
                    <a:bodyPr/>
                    <a:lstStyle/>
                    <a:p>
                      <a:pPr algn="l"/>
                      <a:r>
                        <a:rPr sz="1600" b="0" i="0" dirty="0">
                          <a:solidFill>
                            <a:srgbClr val="1F2633"/>
                          </a:solidFill>
                          <a:latin typeface="Arial"/>
                        </a:rPr>
                        <a:t>86472600, 86472000, 86125500, 86298000, 86306000, 86430900, 86448000 + </a:t>
                      </a:r>
                      <a:r>
                        <a:rPr lang="pt-BR" sz="1600" b="0" i="0" dirty="0">
                          <a:solidFill>
                            <a:srgbClr val="1F2633"/>
                          </a:solidFill>
                          <a:latin typeface="Arial"/>
                        </a:rPr>
                        <a:t>acumulados de </a:t>
                      </a:r>
                      <a:r>
                        <a:rPr sz="1600" b="0" i="0" dirty="0" err="1">
                          <a:solidFill>
                            <a:srgbClr val="1F2633"/>
                          </a:solidFill>
                          <a:latin typeface="Arial"/>
                        </a:rPr>
                        <a:t>chuva</a:t>
                      </a:r>
                      <a:endParaRPr sz="1900" b="0" i="0" dirty="0">
                        <a:solidFill>
                          <a:srgbClr val="1F2633"/>
                        </a:solidFill>
                        <a:latin typeface="Arial"/>
                      </a:endParaRPr>
                    </a:p>
                  </a:txBody>
                  <a:tcPr marL="90000" marR="90000" marT="36000" marB="36000" anchor="ctr">
                    <a:solidFill>
                      <a:srgbClr val="FFFFFF"/>
                    </a:solidFill>
                  </a:tcPr>
                </a:tc>
                <a:extLst>
                  <a:ext uri="{0D108BD9-81ED-4DB2-BD59-A6C34878D82A}">
                    <a16:rowId xmlns:a16="http://schemas.microsoft.com/office/drawing/2014/main" val="10003"/>
                  </a:ext>
                </a:extLst>
              </a:tr>
            </a:tbl>
          </a:graphicData>
        </a:graphic>
      </p:graphicFrame>
      <p:sp>
        <p:nvSpPr>
          <p:cNvPr id="34" name="Secao RESULTADOS"/>
          <p:cNvSpPr/>
          <p:nvPr/>
        </p:nvSpPr>
        <p:spPr>
          <a:xfrm>
            <a:off x="1080000" y="20052000"/>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dirty="0">
                <a:solidFill>
                  <a:srgbClr val="FFFFFF"/>
                </a:solidFill>
                <a:latin typeface="Arial"/>
              </a:rPr>
              <a:t>RESULTADOS</a:t>
            </a:r>
          </a:p>
        </p:txBody>
      </p:sp>
      <p:sp>
        <p:nvSpPr>
          <p:cNvPr id="36" name="Legenda dispersao"/>
          <p:cNvSpPr txBox="1"/>
          <p:nvPr/>
        </p:nvSpPr>
        <p:spPr>
          <a:xfrm>
            <a:off x="1260000" y="33021533"/>
            <a:ext cx="9360000" cy="952312"/>
          </a:xfrm>
          <a:prstGeom prst="rect">
            <a:avLst/>
          </a:prstGeom>
          <a:noFill/>
        </p:spPr>
        <p:txBody>
          <a:bodyPr wrap="square" lIns="0" tIns="0" rIns="0" bIns="0" anchor="t">
            <a:spAutoFit/>
          </a:bodyPr>
          <a:lstStyle/>
          <a:p>
            <a:pPr>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2 – </a:t>
            </a:r>
            <a:r>
              <a:rPr sz="1800" b="0" i="0" dirty="0" err="1">
                <a:solidFill>
                  <a:srgbClr val="5B6573"/>
                </a:solidFill>
                <a:latin typeface="Arial"/>
              </a:rPr>
              <a:t>Nível</a:t>
            </a:r>
            <a:r>
              <a:rPr sz="1800" b="0" i="0" dirty="0">
                <a:solidFill>
                  <a:srgbClr val="5B6573"/>
                </a:solidFill>
                <a:latin typeface="Arial"/>
              </a:rPr>
              <a:t> </a:t>
            </a:r>
            <a:r>
              <a:rPr sz="1800" b="0" i="0" dirty="0" err="1">
                <a:solidFill>
                  <a:srgbClr val="5B6573"/>
                </a:solidFill>
                <a:latin typeface="Arial"/>
              </a:rPr>
              <a:t>previsto</a:t>
            </a:r>
            <a:r>
              <a:rPr sz="1800" b="0" i="0" dirty="0">
                <a:solidFill>
                  <a:srgbClr val="5B6573"/>
                </a:solidFill>
                <a:latin typeface="Arial"/>
              </a:rPr>
              <a:t> × </a:t>
            </a:r>
            <a:r>
              <a:rPr sz="1800" b="0" i="0" dirty="0" err="1">
                <a:solidFill>
                  <a:srgbClr val="5B6573"/>
                </a:solidFill>
                <a:latin typeface="Arial"/>
              </a:rPr>
              <a:t>observado</a:t>
            </a:r>
            <a:r>
              <a:rPr sz="1800" b="0" i="0" dirty="0">
                <a:solidFill>
                  <a:srgbClr val="5B6573"/>
                </a:solidFill>
                <a:latin typeface="Arial"/>
              </a:rPr>
              <a:t> (</a:t>
            </a:r>
            <a:r>
              <a:rPr sz="1800" b="0" i="0" dirty="0" err="1">
                <a:solidFill>
                  <a:srgbClr val="5B6573"/>
                </a:solidFill>
                <a:latin typeface="Arial"/>
              </a:rPr>
              <a:t>laranja</a:t>
            </a:r>
            <a:r>
              <a:rPr sz="1800" b="0" i="0" dirty="0">
                <a:solidFill>
                  <a:srgbClr val="5B6573"/>
                </a:solidFill>
                <a:latin typeface="Arial"/>
              </a:rPr>
              <a:t> = teste). 2h </a:t>
            </a:r>
            <a:r>
              <a:rPr lang="pt-BR" dirty="0">
                <a:solidFill>
                  <a:srgbClr val="5B6573"/>
                </a:solidFill>
                <a:latin typeface="Arial"/>
              </a:rPr>
              <a:t>-</a:t>
            </a:r>
            <a:r>
              <a:rPr sz="1800" b="0" i="0" dirty="0">
                <a:solidFill>
                  <a:srgbClr val="5B6573"/>
                </a:solidFill>
                <a:latin typeface="Arial"/>
              </a:rPr>
              <a:t> 3 </a:t>
            </a:r>
            <a:r>
              <a:rPr sz="1800" b="0" i="0" dirty="0" err="1">
                <a:solidFill>
                  <a:srgbClr val="5B6573"/>
                </a:solidFill>
                <a:latin typeface="Arial"/>
              </a:rPr>
              <a:t>eventos</a:t>
            </a:r>
            <a:r>
              <a:rPr sz="1800" b="0" i="0" dirty="0">
                <a:solidFill>
                  <a:srgbClr val="5B6573"/>
                </a:solidFill>
                <a:latin typeface="Arial"/>
              </a:rPr>
              <a:t> out/2024–2025; 4h </a:t>
            </a:r>
            <a:r>
              <a:rPr lang="pt-BR" sz="1800" b="0" i="0" dirty="0">
                <a:solidFill>
                  <a:srgbClr val="5B6573"/>
                </a:solidFill>
                <a:latin typeface="Arial"/>
              </a:rPr>
              <a:t>-</a:t>
            </a:r>
            <a:r>
              <a:rPr sz="1800" b="0" i="0" dirty="0">
                <a:solidFill>
                  <a:srgbClr val="5B6573"/>
                </a:solidFill>
                <a:latin typeface="Arial"/>
              </a:rPr>
              <a:t> </a:t>
            </a:r>
            <a:r>
              <a:rPr sz="1800" b="0" i="0" dirty="0" err="1">
                <a:solidFill>
                  <a:srgbClr val="5B6573"/>
                </a:solidFill>
                <a:latin typeface="Arial"/>
              </a:rPr>
              <a:t>cheia</a:t>
            </a:r>
            <a:r>
              <a:rPr sz="1800" b="0" i="0" dirty="0">
                <a:solidFill>
                  <a:srgbClr val="5B6573"/>
                </a:solidFill>
                <a:latin typeface="Arial"/>
              </a:rPr>
              <a:t> de </a:t>
            </a:r>
            <a:r>
              <a:rPr sz="1800" b="0" i="0" dirty="0" err="1">
                <a:solidFill>
                  <a:srgbClr val="5B6573"/>
                </a:solidFill>
                <a:latin typeface="Arial"/>
              </a:rPr>
              <a:t>jun</a:t>
            </a:r>
            <a:r>
              <a:rPr sz="1800" b="0" i="0" dirty="0">
                <a:solidFill>
                  <a:srgbClr val="5B6573"/>
                </a:solidFill>
                <a:latin typeface="Arial"/>
              </a:rPr>
              <a:t>/2025; 8h </a:t>
            </a:r>
            <a:r>
              <a:rPr lang="pt-BR" sz="1800" b="0" i="0" dirty="0">
                <a:solidFill>
                  <a:srgbClr val="5B6573"/>
                </a:solidFill>
                <a:latin typeface="Arial"/>
              </a:rPr>
              <a:t>-</a:t>
            </a:r>
            <a:r>
              <a:rPr sz="1800" b="0" i="0" dirty="0">
                <a:solidFill>
                  <a:srgbClr val="5B6573"/>
                </a:solidFill>
                <a:latin typeface="Arial"/>
              </a:rPr>
              <a:t> </a:t>
            </a:r>
            <a:r>
              <a:rPr sz="1800" b="0" i="0" dirty="0" err="1">
                <a:solidFill>
                  <a:srgbClr val="5B6573"/>
                </a:solidFill>
                <a:latin typeface="Arial"/>
              </a:rPr>
              <a:t>cheia</a:t>
            </a:r>
            <a:r>
              <a:rPr sz="1800" b="0" i="0" dirty="0">
                <a:solidFill>
                  <a:srgbClr val="5B6573"/>
                </a:solidFill>
                <a:latin typeface="Arial"/>
              </a:rPr>
              <a:t> de </a:t>
            </a:r>
            <a:r>
              <a:rPr sz="1800" b="0" i="0" dirty="0" err="1">
                <a:solidFill>
                  <a:srgbClr val="5B6573"/>
                </a:solidFill>
                <a:latin typeface="Arial"/>
              </a:rPr>
              <a:t>jul</a:t>
            </a:r>
            <a:r>
              <a:rPr sz="1800" b="0" i="0" dirty="0">
                <a:solidFill>
                  <a:srgbClr val="5B6573"/>
                </a:solidFill>
                <a:latin typeface="Arial"/>
              </a:rPr>
              <a:t>/2023.</a:t>
            </a:r>
            <a:endParaRPr lang="pt-BR" sz="1800" b="0" i="0" dirty="0">
              <a:solidFill>
                <a:srgbClr val="5B6573"/>
              </a:solidFill>
              <a:latin typeface="Arial"/>
            </a:endParaRPr>
          </a:p>
          <a:p>
            <a:pPr>
              <a:lnSpc>
                <a:spcPct val="108000"/>
              </a:lnSpc>
              <a:spcAft>
                <a:spcPts val="600"/>
              </a:spcAft>
            </a:pPr>
            <a:r>
              <a:rPr lang="pt-BR" dirty="0">
                <a:solidFill>
                  <a:srgbClr val="5B6573"/>
                </a:solidFill>
                <a:latin typeface="Arial"/>
              </a:rPr>
              <a:t>*Métricas referentes ao conjunto de teste</a:t>
            </a:r>
            <a:endParaRPr sz="1800" b="0" i="0" dirty="0">
              <a:solidFill>
                <a:srgbClr val="5B6573"/>
              </a:solidFill>
              <a:latin typeface="Arial"/>
            </a:endParaRPr>
          </a:p>
        </p:txBody>
      </p:sp>
      <p:sp>
        <p:nvSpPr>
          <p:cNvPr id="39" name="Secao CONCLUSÕES"/>
          <p:cNvSpPr/>
          <p:nvPr/>
        </p:nvSpPr>
        <p:spPr>
          <a:xfrm>
            <a:off x="10944000" y="26784000"/>
            <a:ext cx="34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CONCLUSÕES</a:t>
            </a:r>
          </a:p>
        </p:txBody>
      </p:sp>
      <p:sp>
        <p:nvSpPr>
          <p:cNvPr id="40" name="Texto conclusoes"/>
          <p:cNvSpPr txBox="1"/>
          <p:nvPr/>
        </p:nvSpPr>
        <p:spPr>
          <a:xfrm>
            <a:off x="10944000" y="27468000"/>
            <a:ext cx="5040000" cy="4001095"/>
          </a:xfrm>
          <a:prstGeom prst="rect">
            <a:avLst/>
          </a:prstGeom>
          <a:noFill/>
        </p:spPr>
        <p:txBody>
          <a:bodyPr wrap="square" lIns="0" tIns="0" rIns="0" bIns="0" anchor="t">
            <a:spAutoFit/>
          </a:bodyPr>
          <a:lstStyle/>
          <a:p>
            <a:pPr marL="252000" indent="-252000" algn="just">
              <a:lnSpc>
                <a:spcPct val="100000"/>
              </a:lnSpc>
              <a:spcAft>
                <a:spcPts val="500"/>
              </a:spcAft>
              <a:buClr>
                <a:srgbClr val="D9661F"/>
              </a:buClr>
              <a:buFont typeface="Arial"/>
              <a:buChar char="■"/>
            </a:pPr>
            <a:r>
              <a:rPr lang="pt-BR" sz="2000" dirty="0"/>
              <a:t>Os resultados indicam que as </a:t>
            </a:r>
            <a:r>
              <a:rPr lang="pt-BR" sz="2000" dirty="0" err="1"/>
              <a:t>RNAs</a:t>
            </a:r>
            <a:r>
              <a:rPr lang="pt-BR" sz="2000" dirty="0"/>
              <a:t> têm potencial de uso operacional na previsão de curto prazo do nível do rio Taquari, em Santa Tereza. No conjunto de teste, os coeficientes de eficiência mostram que os modelos explicam a variabilidade do nível futuro tanto em relação à média (NSE de 0,996, 0,993 e 0,979 para 2, 4 e 8 h) quanto em relação à persistência do nível atual (PME de 0,969, 0,878 e 0,927). </a:t>
            </a:r>
            <a:r>
              <a:rPr lang="pt-BR" sz="2000" b="1" dirty="0"/>
              <a:t>Na operação em tempo real</a:t>
            </a:r>
            <a:r>
              <a:rPr lang="pt-BR" sz="2000" dirty="0"/>
              <a:t> durante a cheia de setembro de 2026 (pico de 13,3 m), o modelo de 2 h </a:t>
            </a:r>
            <a:r>
              <a:rPr lang="pt-BR" sz="2000" b="1" dirty="0"/>
              <a:t>obteve</a:t>
            </a:r>
            <a:r>
              <a:rPr lang="pt-BR" sz="2000" dirty="0"/>
              <a:t> erro médio de 9,2 cm e o modelo de 4h, erro de 16,2 cm</a:t>
            </a:r>
            <a:endParaRPr sz="2000" b="0" i="0" dirty="0">
              <a:solidFill>
                <a:srgbClr val="1F2633"/>
              </a:solidFill>
              <a:latin typeface="Arial"/>
            </a:endParaRPr>
          </a:p>
        </p:txBody>
      </p:sp>
      <p:sp>
        <p:nvSpPr>
          <p:cNvPr id="41" name="Secao OPERAÇÃO EM TEMPO REAL"/>
          <p:cNvSpPr/>
          <p:nvPr/>
        </p:nvSpPr>
        <p:spPr>
          <a:xfrm>
            <a:off x="10944000" y="20052000"/>
            <a:ext cx="7056000" cy="504000"/>
          </a:xfrm>
          <a:prstGeom prst="roundRect">
            <a:avLst>
              <a:gd name="adj" fmla="val 50000"/>
            </a:avLst>
          </a:prstGeom>
          <a:solidFill>
            <a:srgbClr val="2A378D"/>
          </a:solidFill>
          <a:ln>
            <a:noFill/>
          </a:ln>
          <a:effectLst/>
        </p:spPr>
        <p:style>
          <a:lnRef idx="1">
            <a:schemeClr val="accent1"/>
          </a:lnRef>
          <a:fillRef idx="3">
            <a:schemeClr val="accent1"/>
          </a:fillRef>
          <a:effectRef idx="2">
            <a:schemeClr val="accent1"/>
          </a:effectRef>
          <a:fontRef idx="minor">
            <a:schemeClr val="lt1"/>
          </a:fontRef>
        </p:style>
        <p:txBody>
          <a:bodyPr wrap="none" lIns="252000" tIns="0" rIns="252000" bIns="0" rtlCol="0" anchor="ctr"/>
          <a:lstStyle/>
          <a:p>
            <a:pPr algn="l"/>
            <a:r>
              <a:rPr sz="3000" b="1" i="0">
                <a:solidFill>
                  <a:srgbClr val="FFFFFF"/>
                </a:solidFill>
                <a:latin typeface="Arial"/>
              </a:rPr>
              <a:t>OPERAÇÃO EM TEMPO REAL</a:t>
            </a:r>
          </a:p>
        </p:txBody>
      </p:sp>
      <p:pic>
        <p:nvPicPr>
          <p:cNvPr id="42" name="Operacao ao vivo 2h" descr="ao_vivo_2h.png"/>
          <p:cNvPicPr>
            <a:picLocks noChangeAspect="1"/>
          </p:cNvPicPr>
          <p:nvPr/>
        </p:nvPicPr>
        <p:blipFill>
          <a:blip r:embed="rId10"/>
          <a:stretch>
            <a:fillRect/>
          </a:stretch>
        </p:blipFill>
        <p:spPr>
          <a:xfrm>
            <a:off x="10944000" y="20700000"/>
            <a:ext cx="9360000" cy="4500000"/>
          </a:xfrm>
          <a:prstGeom prst="rect">
            <a:avLst/>
          </a:prstGeom>
        </p:spPr>
      </p:pic>
      <p:sp>
        <p:nvSpPr>
          <p:cNvPr id="43" name="Legenda ao vivo"/>
          <p:cNvSpPr txBox="1"/>
          <p:nvPr/>
        </p:nvSpPr>
        <p:spPr>
          <a:xfrm>
            <a:off x="10944000" y="25236000"/>
            <a:ext cx="9360000" cy="288000"/>
          </a:xfrm>
          <a:prstGeom prst="rect">
            <a:avLst/>
          </a:prstGeom>
          <a:noFill/>
        </p:spPr>
        <p:txBody>
          <a:bodyPr wrap="square" lIns="0" tIns="0" rIns="0" bIns="0" anchor="t">
            <a:spAutoFit/>
          </a:bodyPr>
          <a:lstStyle/>
          <a:p>
            <a:pPr algn="l">
              <a:lnSpc>
                <a:spcPct val="108000"/>
              </a:lnSpc>
              <a:spcAft>
                <a:spcPts val="600"/>
              </a:spcAft>
            </a:pPr>
            <a:r>
              <a:rPr sz="1800" b="0" i="0" dirty="0" err="1">
                <a:solidFill>
                  <a:srgbClr val="5B6573"/>
                </a:solidFill>
                <a:latin typeface="Arial"/>
              </a:rPr>
              <a:t>Figura</a:t>
            </a:r>
            <a:r>
              <a:rPr sz="1800" b="0" i="0" dirty="0">
                <a:solidFill>
                  <a:srgbClr val="5B6573"/>
                </a:solidFill>
                <a:latin typeface="Arial"/>
              </a:rPr>
              <a:t> 3 – </a:t>
            </a:r>
            <a:r>
              <a:rPr sz="1800" b="0" i="0" dirty="0" err="1">
                <a:solidFill>
                  <a:srgbClr val="5B6573"/>
                </a:solidFill>
                <a:latin typeface="Arial"/>
              </a:rPr>
              <a:t>Previsão</a:t>
            </a:r>
            <a:r>
              <a:rPr sz="1800" b="0" i="0" dirty="0">
                <a:solidFill>
                  <a:srgbClr val="5B6573"/>
                </a:solidFill>
                <a:latin typeface="Arial"/>
              </a:rPr>
              <a:t> </a:t>
            </a:r>
            <a:r>
              <a:rPr sz="1800" b="0" i="0" dirty="0" err="1">
                <a:solidFill>
                  <a:srgbClr val="5B6573"/>
                </a:solidFill>
                <a:latin typeface="Arial"/>
              </a:rPr>
              <a:t>ao</a:t>
            </a:r>
            <a:r>
              <a:rPr sz="1800" b="0" i="0" dirty="0">
                <a:solidFill>
                  <a:srgbClr val="5B6573"/>
                </a:solidFill>
                <a:latin typeface="Arial"/>
              </a:rPr>
              <a:t> vivo 2h × </a:t>
            </a:r>
            <a:r>
              <a:rPr sz="1800" b="0" i="0" dirty="0" err="1">
                <a:solidFill>
                  <a:srgbClr val="5B6573"/>
                </a:solidFill>
                <a:latin typeface="Arial"/>
              </a:rPr>
              <a:t>telemetria</a:t>
            </a:r>
            <a:r>
              <a:rPr sz="1800" b="0" i="0" dirty="0">
                <a:solidFill>
                  <a:srgbClr val="5B6573"/>
                </a:solidFill>
                <a:latin typeface="Arial"/>
              </a:rPr>
              <a:t> (25/09 a 05/10/2026).</a:t>
            </a:r>
          </a:p>
        </p:txBody>
      </p:sp>
      <p:sp>
        <p:nvSpPr>
          <p:cNvPr id="44" name="Texto ao vivo"/>
          <p:cNvSpPr txBox="1"/>
          <p:nvPr/>
        </p:nvSpPr>
        <p:spPr>
          <a:xfrm>
            <a:off x="10922613" y="25671110"/>
            <a:ext cx="9360000" cy="307713"/>
          </a:xfrm>
          <a:prstGeom prst="rect">
            <a:avLst/>
          </a:prstGeom>
          <a:noFill/>
        </p:spPr>
        <p:txBody>
          <a:bodyPr wrap="square" lIns="0" tIns="0" rIns="0" bIns="0" anchor="t">
            <a:spAutoFit/>
          </a:bodyPr>
          <a:lstStyle/>
          <a:p>
            <a:pPr algn="l">
              <a:lnSpc>
                <a:spcPct val="108000"/>
              </a:lnSpc>
              <a:spcAft>
                <a:spcPts val="600"/>
              </a:spcAft>
            </a:pPr>
            <a:r>
              <a:rPr sz="2000" b="0" i="0" dirty="0" err="1">
                <a:solidFill>
                  <a:srgbClr val="1F2633"/>
                </a:solidFill>
                <a:latin typeface="Arial"/>
              </a:rPr>
              <a:t>Robô</a:t>
            </a:r>
            <a:r>
              <a:rPr sz="2000" b="0" i="0" dirty="0">
                <a:solidFill>
                  <a:srgbClr val="1F2633"/>
                </a:solidFill>
                <a:latin typeface="Arial"/>
              </a:rPr>
              <a:t> </a:t>
            </a:r>
            <a:r>
              <a:rPr sz="2000" b="0" i="0" dirty="0" err="1">
                <a:solidFill>
                  <a:srgbClr val="1F2633"/>
                </a:solidFill>
                <a:latin typeface="Arial"/>
              </a:rPr>
              <a:t>horário</a:t>
            </a:r>
            <a:r>
              <a:rPr sz="2000" b="0" i="0" dirty="0">
                <a:solidFill>
                  <a:srgbClr val="1F2633"/>
                </a:solidFill>
                <a:latin typeface="Arial"/>
              </a:rPr>
              <a:t> com </a:t>
            </a:r>
            <a:r>
              <a:rPr sz="2000" b="0" i="0" dirty="0" err="1">
                <a:solidFill>
                  <a:srgbClr val="1F2633"/>
                </a:solidFill>
                <a:latin typeface="Arial"/>
              </a:rPr>
              <a:t>telemetria</a:t>
            </a:r>
            <a:r>
              <a:rPr sz="2000" b="0" i="0" dirty="0">
                <a:solidFill>
                  <a:srgbClr val="1F2633"/>
                </a:solidFill>
                <a:latin typeface="Arial"/>
              </a:rPr>
              <a:t> </a:t>
            </a:r>
            <a:r>
              <a:rPr lang="pt-BR" sz="2000" b="0" i="0" dirty="0">
                <a:solidFill>
                  <a:srgbClr val="1F2633"/>
                </a:solidFill>
                <a:latin typeface="Arial"/>
              </a:rPr>
              <a:t> </a:t>
            </a:r>
            <a:r>
              <a:rPr sz="2000" b="0" i="0" dirty="0">
                <a:solidFill>
                  <a:srgbClr val="1F2633"/>
                </a:solidFill>
                <a:latin typeface="Arial"/>
              </a:rPr>
              <a:t>ANA,</a:t>
            </a:r>
            <a:r>
              <a:rPr lang="pt-BR" sz="2000" b="0" i="0" dirty="0">
                <a:solidFill>
                  <a:srgbClr val="1F2633"/>
                </a:solidFill>
                <a:latin typeface="Arial"/>
              </a:rPr>
              <a:t> </a:t>
            </a:r>
            <a:r>
              <a:rPr sz="2000" b="1" i="0" dirty="0">
                <a:solidFill>
                  <a:srgbClr val="D9661F"/>
                </a:solidFill>
                <a:latin typeface="Arial"/>
              </a:rPr>
              <a:t>EAM 9,2 c</a:t>
            </a:r>
            <a:r>
              <a:rPr lang="pt-BR" sz="2000" b="1" i="0" dirty="0">
                <a:solidFill>
                  <a:srgbClr val="D9661F"/>
                </a:solidFill>
                <a:latin typeface="Arial"/>
              </a:rPr>
              <a:t>m.</a:t>
            </a:r>
            <a:endParaRPr sz="2000" b="0" i="0" dirty="0">
              <a:solidFill>
                <a:srgbClr val="1F2633"/>
              </a:solidFill>
              <a:latin typeface="Arial"/>
            </a:endParaRPr>
          </a:p>
        </p:txBody>
      </p:sp>
      <p:sp>
        <p:nvSpPr>
          <p:cNvPr id="45" name="Referencias e agradecimentos"/>
          <p:cNvSpPr txBox="1"/>
          <p:nvPr/>
        </p:nvSpPr>
        <p:spPr>
          <a:xfrm>
            <a:off x="6878463" y="35204295"/>
            <a:ext cx="6835074" cy="630942"/>
          </a:xfrm>
          <a:prstGeom prst="rect">
            <a:avLst/>
          </a:prstGeom>
          <a:noFill/>
        </p:spPr>
        <p:txBody>
          <a:bodyPr wrap="square" lIns="0" tIns="0" rIns="0" bIns="0" anchor="t">
            <a:spAutoFit/>
          </a:bodyPr>
          <a:lstStyle/>
          <a:p>
            <a:pPr algn="ctr">
              <a:lnSpc>
                <a:spcPct val="100000"/>
              </a:lnSpc>
              <a:spcAft>
                <a:spcPts val="600"/>
              </a:spcAft>
            </a:pPr>
            <a:r>
              <a:rPr b="1" i="0" dirty="0" err="1">
                <a:solidFill>
                  <a:srgbClr val="5B6573"/>
                </a:solidFill>
                <a:latin typeface="Arial"/>
              </a:rPr>
              <a:t>Agradecimentos</a:t>
            </a:r>
            <a:r>
              <a:rPr b="1" i="0" dirty="0">
                <a:solidFill>
                  <a:srgbClr val="5B6573"/>
                </a:solidFill>
                <a:latin typeface="Arial"/>
              </a:rPr>
              <a:t>: </a:t>
            </a:r>
            <a:r>
              <a:rPr b="0" i="0" dirty="0">
                <a:solidFill>
                  <a:srgbClr val="5B6573"/>
                </a:solidFill>
                <a:latin typeface="Arial"/>
              </a:rPr>
              <a:t>FAPERGS (</a:t>
            </a:r>
            <a:r>
              <a:rPr b="0" i="0" dirty="0" err="1">
                <a:solidFill>
                  <a:srgbClr val="5B6573"/>
                </a:solidFill>
                <a:latin typeface="Arial"/>
              </a:rPr>
              <a:t>processos</a:t>
            </a:r>
            <a:r>
              <a:rPr b="0" i="0" dirty="0">
                <a:solidFill>
                  <a:srgbClr val="5B6573"/>
                </a:solidFill>
                <a:latin typeface="Arial"/>
              </a:rPr>
              <a:t> 24/2551-0002124-8 e</a:t>
            </a:r>
            <a:endParaRPr lang="pt-BR" b="0" i="0" dirty="0">
              <a:solidFill>
                <a:srgbClr val="5B6573"/>
              </a:solidFill>
              <a:latin typeface="Arial"/>
            </a:endParaRPr>
          </a:p>
          <a:p>
            <a:pPr algn="ctr">
              <a:lnSpc>
                <a:spcPct val="100000"/>
              </a:lnSpc>
              <a:spcAft>
                <a:spcPts val="600"/>
              </a:spcAft>
            </a:pPr>
            <a:r>
              <a:rPr b="0" i="0" dirty="0">
                <a:solidFill>
                  <a:srgbClr val="5B6573"/>
                </a:solidFill>
                <a:latin typeface="Arial"/>
              </a:rPr>
              <a:t> 25/2551-0002522-2).</a:t>
            </a:r>
          </a:p>
        </p:txBody>
      </p:sp>
      <p:sp>
        <p:nvSpPr>
          <p:cNvPr id="49" name="Chamada QR code">
            <a:extLst>
              <a:ext uri="{FF2B5EF4-FFF2-40B4-BE49-F238E27FC236}">
                <a16:creationId xmlns:a16="http://schemas.microsoft.com/office/drawing/2014/main" id="{B8D035C5-1487-E5C6-9D91-7D3AAB38A358}"/>
              </a:ext>
            </a:extLst>
          </p:cNvPr>
          <p:cNvSpPr txBox="1"/>
          <p:nvPr/>
        </p:nvSpPr>
        <p:spPr>
          <a:xfrm>
            <a:off x="16969653" y="28371587"/>
            <a:ext cx="2637559" cy="1264257"/>
          </a:xfrm>
          <a:prstGeom prst="rect">
            <a:avLst/>
          </a:prstGeom>
          <a:noFill/>
        </p:spPr>
        <p:txBody>
          <a:bodyPr wrap="square" lIns="0" tIns="0" rIns="0" bIns="0" anchor="t">
            <a:spAutoFit/>
          </a:bodyPr>
          <a:lstStyle/>
          <a:p>
            <a:pPr algn="r">
              <a:lnSpc>
                <a:spcPct val="108000"/>
              </a:lnSpc>
              <a:spcAft>
                <a:spcPts val="600"/>
              </a:spcAft>
            </a:pPr>
            <a:r>
              <a:rPr sz="2600" b="1" i="0" dirty="0" err="1">
                <a:solidFill>
                  <a:srgbClr val="2A378D"/>
                </a:solidFill>
                <a:latin typeface="Arial"/>
              </a:rPr>
              <a:t>Acompanhe</a:t>
            </a:r>
            <a:r>
              <a:rPr sz="2600" b="1" i="0" dirty="0">
                <a:solidFill>
                  <a:srgbClr val="2A378D"/>
                </a:solidFill>
                <a:latin typeface="Arial"/>
              </a:rPr>
              <a:t> a </a:t>
            </a:r>
            <a:r>
              <a:rPr sz="2600" b="1" i="0" dirty="0" err="1">
                <a:solidFill>
                  <a:srgbClr val="2A378D"/>
                </a:solidFill>
                <a:latin typeface="Arial"/>
              </a:rPr>
              <a:t>previsão</a:t>
            </a:r>
            <a:r>
              <a:rPr sz="2600" b="1" i="0" dirty="0">
                <a:solidFill>
                  <a:srgbClr val="2A378D"/>
                </a:solidFill>
                <a:latin typeface="Arial"/>
              </a:rPr>
              <a:t> </a:t>
            </a:r>
            <a:r>
              <a:rPr sz="2600" b="1" i="0" dirty="0" err="1">
                <a:solidFill>
                  <a:srgbClr val="2A378D"/>
                </a:solidFill>
                <a:latin typeface="Arial"/>
              </a:rPr>
              <a:t>ao</a:t>
            </a:r>
            <a:r>
              <a:rPr sz="2600" b="1" i="0" dirty="0">
                <a:solidFill>
                  <a:srgbClr val="2A378D"/>
                </a:solidFill>
                <a:latin typeface="Arial"/>
              </a:rPr>
              <a:t> vivo →</a:t>
            </a:r>
          </a:p>
        </p:txBody>
      </p:sp>
      <p:pic>
        <p:nvPicPr>
          <p:cNvPr id="52" name="Logo UFRGS" descr="ufrgs.png"/>
          <p:cNvPicPr>
            <a:picLocks noChangeAspect="1"/>
          </p:cNvPicPr>
          <p:nvPr/>
        </p:nvPicPr>
        <p:blipFill>
          <a:blip r:embed="rId11"/>
          <a:stretch>
            <a:fillRect/>
          </a:stretch>
        </p:blipFill>
        <p:spPr>
          <a:xfrm>
            <a:off x="7282871" y="33880698"/>
            <a:ext cx="1487867" cy="1158585"/>
          </a:xfrm>
          <a:prstGeom prst="rect">
            <a:avLst/>
          </a:prstGeom>
        </p:spPr>
      </p:pic>
      <p:pic>
        <p:nvPicPr>
          <p:cNvPr id="53" name="Logo FAPERGS" descr="fapergs.png"/>
          <p:cNvPicPr>
            <a:picLocks noChangeAspect="1"/>
          </p:cNvPicPr>
          <p:nvPr/>
        </p:nvPicPr>
        <p:blipFill>
          <a:blip r:embed="rId12"/>
          <a:stretch>
            <a:fillRect/>
          </a:stretch>
        </p:blipFill>
        <p:spPr>
          <a:xfrm>
            <a:off x="12145127" y="34069427"/>
            <a:ext cx="1676400" cy="969856"/>
          </a:xfrm>
          <a:prstGeom prst="rect">
            <a:avLst/>
          </a:prstGeom>
        </p:spPr>
      </p:pic>
      <p:pic>
        <p:nvPicPr>
          <p:cNvPr id="54" name="Dispersao empilhada" descr="dispersao_vertical.png"/>
          <p:cNvPicPr>
            <a:picLocks noChangeAspect="1"/>
          </p:cNvPicPr>
          <p:nvPr/>
        </p:nvPicPr>
        <p:blipFill>
          <a:blip r:embed="rId13"/>
          <a:stretch>
            <a:fillRect/>
          </a:stretch>
        </p:blipFill>
        <p:spPr>
          <a:xfrm>
            <a:off x="1080000" y="20700000"/>
            <a:ext cx="9360000" cy="11800509"/>
          </a:xfrm>
          <a:prstGeom prst="rect">
            <a:avLst/>
          </a:prstGeom>
        </p:spPr>
      </p:pic>
      <p:pic>
        <p:nvPicPr>
          <p:cNvPr id="37" name="Imagem 36">
            <a:extLst>
              <a:ext uri="{FF2B5EF4-FFF2-40B4-BE49-F238E27FC236}">
                <a16:creationId xmlns:a16="http://schemas.microsoft.com/office/drawing/2014/main" id="{4028472C-B290-6389-ECEF-C554BAE9486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630527" y="33555014"/>
            <a:ext cx="2052944" cy="2052944"/>
          </a:xfrm>
          <a:prstGeom prst="rect">
            <a:avLst/>
          </a:prstGeom>
        </p:spPr>
      </p:pic>
      <p:pic>
        <p:nvPicPr>
          <p:cNvPr id="46" name="Imagem 45">
            <a:extLst>
              <a:ext uri="{FF2B5EF4-FFF2-40B4-BE49-F238E27FC236}">
                <a16:creationId xmlns:a16="http://schemas.microsoft.com/office/drawing/2014/main" id="{5034EF39-D899-46BD-3D02-0F88AD5D45F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7066453" y="29538005"/>
            <a:ext cx="3698773" cy="36987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TotalTime>
  <Words>566</Words>
  <Application>Microsoft Office PowerPoint</Application>
  <PresentationFormat>Personalizar</PresentationFormat>
  <Paragraphs>51</Paragraphs>
  <Slides>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Calibri</vt:lpstr>
      <vt:lpstr>Montserrat Medium</vt:lpstr>
      <vt:lpstr>Montserrat Bold</vt:lpstr>
      <vt:lpstr>Arial</vt:lpstr>
      <vt:lpstr>Office Theme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 Encontro Brasileiro de Hidrologia Estatística</dc:title>
  <dc:creator>fdn</dc:creator>
  <cp:lastModifiedBy>Juliana Reis</cp:lastModifiedBy>
  <cp:revision>10</cp:revision>
  <dcterms:created xsi:type="dcterms:W3CDTF">2006-08-16T00:00:00Z</dcterms:created>
  <dcterms:modified xsi:type="dcterms:W3CDTF">2026-10-06T15:49:02Z</dcterms:modified>
  <dc:identifier>DAHU89s2k0A</dc:identifier>
</cp:coreProperties>
</file>
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83625" cy="36936363"/>
  <p:notesSz cx="6858000" cy="9144000"/>
  <p:embeddedFontLst>
    <p:embeddedFont>
      <p:font typeface="Montaser Arabic" panose="020B0604020202020204" charset="-78"/>
      <p:regular r:id="rId3"/>
    </p:embeddedFont>
    <p:embeddedFont>
      <p:font typeface="Montserrat Bold" panose="020B0604020202020204" charset="0"/>
      <p:regular r:id="rId4"/>
      <p:bold r:id="rId5"/>
    </p:embeddedFont>
    <p:embeddedFont>
      <p:font typeface="Montserrat Medium" panose="00000600000000000000" pitchFamily="2" charset="0"/>
      <p:regular r:id="rId6"/>
      <p:italic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798" y="-960"/>
      </p:cViewPr>
      <p:guideLst>
        <p:guide orient="horz" pos="202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94392"/>
            <a:ext cx="7772400" cy="137616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8055"/>
            <a:ext cx="6400800" cy="164069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125507"/>
            <a:ext cx="7772400" cy="127510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721111"/>
            <a:ext cx="7772400" cy="140439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37092"/>
            <a:ext cx="4040188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036003"/>
            <a:ext cx="4040188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437092"/>
            <a:ext cx="4041775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036003"/>
            <a:ext cx="4041775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55615"/>
            <a:ext cx="3008313" cy="10878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55615"/>
            <a:ext cx="5111750" cy="5479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343465"/>
            <a:ext cx="3008313" cy="43915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494068"/>
            <a:ext cx="5486400" cy="5305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73648"/>
            <a:ext cx="5486400" cy="385205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024618"/>
            <a:ext cx="5486400" cy="7534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57102"/>
            <a:ext cx="2057400" cy="5477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57102"/>
            <a:ext cx="6019800" cy="5477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57102"/>
            <a:ext cx="8229600" cy="1070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98023"/>
            <a:ext cx="8229600" cy="42369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5950479"/>
            <a:ext cx="2895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DD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5646" y="5125261"/>
            <a:ext cx="20559580" cy="30703757"/>
          </a:xfrm>
          <a:custGeom>
            <a:avLst/>
            <a:gdLst/>
            <a:ahLst/>
            <a:cxnLst/>
            <a:rect l="l" t="t" r="r" b="b"/>
            <a:pathLst>
              <a:path w="20559580" h="31027606">
                <a:moveTo>
                  <a:pt x="0" y="0"/>
                </a:moveTo>
                <a:lnTo>
                  <a:pt x="20559580" y="0"/>
                </a:lnTo>
                <a:lnTo>
                  <a:pt x="20559580" y="31027606"/>
                </a:lnTo>
                <a:lnTo>
                  <a:pt x="0" y="310276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1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33162109"/>
            <a:ext cx="21372000" cy="3774254"/>
          </a:xfrm>
          <a:custGeom>
            <a:avLst/>
            <a:gdLst/>
            <a:ahLst/>
            <a:cxnLst/>
            <a:rect l="l" t="t" r="r" b="b"/>
            <a:pathLst>
              <a:path w="21372000" h="3774254">
                <a:moveTo>
                  <a:pt x="0" y="0"/>
                </a:moveTo>
                <a:lnTo>
                  <a:pt x="21372000" y="0"/>
                </a:lnTo>
                <a:lnTo>
                  <a:pt x="21372000" y="3774254"/>
                </a:lnTo>
                <a:lnTo>
                  <a:pt x="0" y="3774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10717"/>
            <a:ext cx="21372000" cy="2259069"/>
          </a:xfrm>
          <a:custGeom>
            <a:avLst/>
            <a:gdLst/>
            <a:ahLst/>
            <a:cxnLst/>
            <a:rect l="l" t="t" r="r" b="b"/>
            <a:pathLst>
              <a:path w="21372000" h="2259069">
                <a:moveTo>
                  <a:pt x="0" y="0"/>
                </a:moveTo>
                <a:lnTo>
                  <a:pt x="21372000" y="0"/>
                </a:lnTo>
                <a:lnTo>
                  <a:pt x="21372000" y="2259069"/>
                </a:lnTo>
                <a:lnTo>
                  <a:pt x="0" y="22590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73" b="-2273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063313" y="1369330"/>
            <a:ext cx="442955" cy="2702024"/>
          </a:xfrm>
          <a:custGeom>
            <a:avLst/>
            <a:gdLst/>
            <a:ahLst/>
            <a:cxnLst/>
            <a:rect l="l" t="t" r="r" b="b"/>
            <a:pathLst>
              <a:path w="442955" h="2702024">
                <a:moveTo>
                  <a:pt x="0" y="0"/>
                </a:moveTo>
                <a:lnTo>
                  <a:pt x="442955" y="0"/>
                </a:lnTo>
                <a:lnTo>
                  <a:pt x="442955" y="2702024"/>
                </a:lnTo>
                <a:lnTo>
                  <a:pt x="0" y="27020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90612" y="5904177"/>
            <a:ext cx="19202399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4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REDES NEURAIS ARTIFICIAIS PARA PREVISÃO DE CHEIAS NO RIO TAQUARI, MUNICÍPIO DE SANTA TEREZA, RS </a:t>
            </a:r>
            <a:endParaRPr lang="en-US" sz="4800" b="1" dirty="0">
              <a:solidFill>
                <a:schemeClr val="tx2"/>
              </a:solidFill>
              <a:latin typeface="Arial" panose="020B0604020202020204" pitchFamily="34" charset="0"/>
              <a:ea typeface="Montaser Arabic Semi-Bold"/>
              <a:cs typeface="Arial" panose="020B0604020202020204" pitchFamily="34" charset="0"/>
              <a:sym typeface="Montaser Arabic Semi-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80000" y="7632000"/>
            <a:ext cx="19224000" cy="764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800" dirty="0" b="0" i="0">
                <a:solidFill>
                  <a:srgbClr val="003C64"/>
                </a:solidFill>
                <a:latin typeface="Arial"/>
              </a:rPr>
              <a:t>Juliana Carolino Reis, Guilherme Garcia de Oliveira, Fernanda Vier Jung e Josiane Leci Vanin Barbieri</a:t>
            </a:r>
          </a:p>
          <a:p>
            <a:pPr algn="ctr">
              <a:spcBef>
                <a:spcPts val="400"/>
              </a:spcBef>
            </a:pPr>
            <a:r>
              <a:rPr sz="1900" b="0" i="0">
                <a:solidFill>
                  <a:srgbClr val="5B6573"/>
                </a:solidFill>
                <a:latin typeface="Arial"/>
              </a:rPr>
              <a:t>Universidade Federal do Rio Grande do Sul (UFRGS) – Centro Estadual de Pesquisas em Sensoriamento Remoto e Meteorologia (CEPSRM)  ·  julianacarolinoreis@gmail.com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26588" y="1175352"/>
            <a:ext cx="13794084" cy="4339367"/>
            <a:chOff x="0" y="0"/>
            <a:chExt cx="18392113" cy="578582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632758" cy="5785823"/>
            </a:xfrm>
            <a:custGeom>
              <a:avLst/>
              <a:gdLst/>
              <a:ahLst/>
              <a:cxnLst/>
              <a:rect l="l" t="t" r="r" b="b"/>
              <a:pathLst>
                <a:path w="8632758" h="5785823">
                  <a:moveTo>
                    <a:pt x="0" y="0"/>
                  </a:moveTo>
                  <a:lnTo>
                    <a:pt x="8632758" y="0"/>
                  </a:lnTo>
                  <a:lnTo>
                    <a:pt x="8632758" y="5785823"/>
                  </a:lnTo>
                  <a:lnTo>
                    <a:pt x="0" y="5785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8575" b="-30153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3873399" y="1426401"/>
              <a:ext cx="2788615" cy="1344228"/>
            </a:xfrm>
            <a:custGeom>
              <a:avLst/>
              <a:gdLst/>
              <a:ahLst/>
              <a:cxnLst/>
              <a:rect l="l" t="t" r="r" b="b"/>
              <a:pathLst>
                <a:path w="2788615" h="1344228">
                  <a:moveTo>
                    <a:pt x="0" y="0"/>
                  </a:moveTo>
                  <a:lnTo>
                    <a:pt x="2788615" y="0"/>
                  </a:lnTo>
                  <a:lnTo>
                    <a:pt x="2788615" y="1344229"/>
                  </a:lnTo>
                  <a:lnTo>
                    <a:pt x="0" y="13442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609" r="-3609"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3279381" y="2419016"/>
              <a:ext cx="7030617" cy="1970008"/>
              <a:chOff x="0" y="0"/>
              <a:chExt cx="1480056" cy="41471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80056" cy="414718"/>
              </a:xfrm>
              <a:custGeom>
                <a:avLst/>
                <a:gdLst/>
                <a:ahLst/>
                <a:cxnLst/>
                <a:rect l="l" t="t" r="r" b="b"/>
                <a:pathLst>
                  <a:path w="1480056" h="414718">
                    <a:moveTo>
                      <a:pt x="0" y="0"/>
                    </a:moveTo>
                    <a:lnTo>
                      <a:pt x="1480056" y="0"/>
                    </a:lnTo>
                    <a:lnTo>
                      <a:pt x="1480056" y="414718"/>
                    </a:lnTo>
                    <a:lnTo>
                      <a:pt x="0" y="414718"/>
                    </a:lnTo>
                    <a:close/>
                  </a:path>
                </a:pathLst>
              </a:custGeom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19050"/>
                <a:ext cx="1480056" cy="433768"/>
              </a:xfrm>
              <a:prstGeom prst="rect">
                <a:avLst/>
              </a:prstGeom>
            </p:spPr>
            <p:txBody>
              <a:bodyPr lIns="44264" tIns="44264" rIns="44264" bIns="44264" rtlCol="0" anchor="ctr"/>
              <a:lstStyle/>
              <a:p>
                <a:pPr algn="ctr">
                  <a:lnSpc>
                    <a:spcPts val="623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316379" y="3865402"/>
              <a:ext cx="9897453" cy="530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142"/>
                </a:lnSpc>
                <a:spcBef>
                  <a:spcPct val="0"/>
                </a:spcBef>
              </a:pPr>
              <a:r>
                <a:rPr lang="en-US" sz="2708" b="1" spc="-100" dirty="0">
                  <a:solidFill>
                    <a:srgbClr val="036CB5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26 a 30 de Outubro de 2026 | Fortaleza - CE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16379" y="2493325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 Encontro Nacional de Desastres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6379" y="3215544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II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Encontro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Brasileiro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de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Hidrologia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Estatística</a:t>
              </a:r>
              <a:endParaRPr lang="en-US" sz="3603" b="1" spc="-180" dirty="0">
                <a:solidFill>
                  <a:srgbClr val="2A378D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4506267" y="1932185"/>
            <a:ext cx="6150770" cy="3127980"/>
          </a:xfrm>
          <a:custGeom>
            <a:avLst/>
            <a:gdLst/>
            <a:ahLst/>
            <a:cxnLst/>
            <a:rect l="l" t="t" r="r" b="b"/>
            <a:pathLst>
              <a:path w="6150770" h="3127980">
                <a:moveTo>
                  <a:pt x="0" y="0"/>
                </a:moveTo>
                <a:lnTo>
                  <a:pt x="6150770" y="0"/>
                </a:lnTo>
                <a:lnTo>
                  <a:pt x="6150770" y="3127980"/>
                </a:lnTo>
                <a:lnTo>
                  <a:pt x="0" y="31279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00256" r="-4529"/>
            </a:stretch>
          </a:blipFill>
        </p:spPr>
      </p:sp>
      <p:sp>
        <p:nvSpPr>
          <p:cNvPr id="18" name="Secao INTRODUÇÃO"/>
          <p:cNvSpPr/>
          <p:nvPr/>
        </p:nvSpPr>
        <p:spPr>
          <a:xfrm>
            <a:off x="1080000" y="9072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INTRODUÇÃO</a:t>
            </a:r>
          </a:p>
        </p:txBody>
      </p:sp>
      <p:sp>
        <p:nvSpPr>
          <p:cNvPr id="19" name="Texto introducao"/>
          <p:cNvSpPr txBox="1"/>
          <p:nvPr/>
        </p:nvSpPr>
        <p:spPr>
          <a:xfrm>
            <a:off x="1080000" y="9756000"/>
            <a:ext cx="9360000" cy="24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400" b="0" i="0">
                <a:solidFill>
                  <a:srgbClr val="1F2633"/>
                </a:solidFill>
                <a:latin typeface="Arial"/>
              </a:rPr>
              <a:t>As cheias de 2023 e 2024 na bacia do Taquari-Antas mostraram a necessidade de previsões de nível com antecedência útil para o alerta. Este trabalho aplica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Redes Neurais Artificiais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do tipo Perceptron Multicamadas (MLP) para prever o nível do rio Taquari em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Santa Tereza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com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2, 4 e 8 horas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de antecedência, pela </a:t>
            </a:r>
            <a:r>
              <a:rPr sz="2400" b="1" i="0">
                <a:solidFill>
                  <a:srgbClr val="D9661F"/>
                </a:solidFill>
                <a:latin typeface="Arial"/>
              </a:rPr>
              <a:t>abordagem alternativa (ALT)</a:t>
            </a:r>
            <a:r>
              <a:rPr sz="2400" b="0" i="0">
                <a:solidFill>
                  <a:srgbClr val="1F2633"/>
                </a:solidFill>
                <a:latin typeface="Arial"/>
              </a:rPr>
              <a:t>: a RNA prevê só a variação do nível.</a:t>
            </a:r>
          </a:p>
        </p:txBody>
      </p:sp>
      <p:sp>
        <p:nvSpPr>
          <p:cNvPr id="20" name="Secao ÁREA DE ESTUDO E DADOS"/>
          <p:cNvSpPr/>
          <p:nvPr/>
        </p:nvSpPr>
        <p:spPr>
          <a:xfrm>
            <a:off x="1080000" y="12348000"/>
            <a:ext cx="66528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ÁREA DE ESTUDO E DADOS</a:t>
            </a:r>
          </a:p>
        </p:txBody>
      </p:sp>
      <p:sp>
        <p:nvSpPr>
          <p:cNvPr id="21" name="Texto area de estudo"/>
          <p:cNvSpPr txBox="1"/>
          <p:nvPr/>
        </p:nvSpPr>
        <p:spPr>
          <a:xfrm>
            <a:off x="1080000" y="13032000"/>
            <a:ext cx="9360000" cy="18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2000" indent="-252000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>
                <a:solidFill>
                  <a:srgbClr val="1F2633"/>
                </a:solidFill>
                <a:latin typeface="Arial"/>
              </a:rPr>
              <a:t>Bacia do rio Taquari até a estação 86472600 (≈15.800 km²)</a:t>
            </a:r>
          </a:p>
          <a:p>
            <a:pPr algn="l" marL="252000" indent="-252000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>
                <a:solidFill>
                  <a:srgbClr val="1F2633"/>
                </a:solidFill>
                <a:latin typeface="Arial"/>
              </a:rPr>
              <a:t>Dados horários de nível e chuva (2022–2025) do portal HidroTelemetria (ANA/SGB)</a:t>
            </a:r>
          </a:p>
          <a:p>
            <a:pPr algn="l" marL="252000" indent="-252000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>
                <a:solidFill>
                  <a:srgbClr val="1F2633"/>
                </a:solidFill>
                <a:latin typeface="Arial"/>
              </a:rPr>
              <a:t>Amostras agrupadas por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eventos de cheia</a:t>
            </a:r>
            <a:r>
              <a:rPr sz="2400" b="0" i="0">
                <a:solidFill>
                  <a:srgbClr val="1F2633"/>
                </a:solidFill>
                <a:latin typeface="Arial"/>
              </a:rPr>
              <a:t>, separados em treino, validação e teste</a:t>
            </a:r>
          </a:p>
        </p:txBody>
      </p:sp>
      <p:pic>
        <p:nvPicPr>
          <p:cNvPr id="22" name="Mapa da bacia" descr="map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48000" y="9072000"/>
            <a:ext cx="8352000" cy="5720358"/>
          </a:xfrm>
          <a:prstGeom prst="rect">
            <a:avLst/>
          </a:prstGeom>
        </p:spPr>
      </p:pic>
      <p:sp>
        <p:nvSpPr>
          <p:cNvPr id="23" name="Legenda mapa"/>
          <p:cNvSpPr txBox="1"/>
          <p:nvPr/>
        </p:nvSpPr>
        <p:spPr>
          <a:xfrm>
            <a:off x="10944000" y="14864358"/>
            <a:ext cx="93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1 – Bacia do rio Taquari até Santa Tereza e postos fluviométricos.</a:t>
            </a:r>
          </a:p>
        </p:txBody>
      </p:sp>
      <p:sp>
        <p:nvSpPr>
          <p:cNvPr id="24" name="Secao METODOLOGIA: ABORDAGEM ALTERNATIVA (ALT)"/>
          <p:cNvSpPr/>
          <p:nvPr/>
        </p:nvSpPr>
        <p:spPr>
          <a:xfrm>
            <a:off x="1080000" y="15408000"/>
            <a:ext cx="11448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METODOLOGIA: ABORDAGEM ALTERNATIVA (ALT)</a:t>
            </a:r>
          </a:p>
        </p:txBody>
      </p:sp>
      <p:sp>
        <p:nvSpPr>
          <p:cNvPr id="25" name="Etapa 1"/>
          <p:cNvSpPr/>
          <p:nvPr/>
        </p:nvSpPr>
        <p:spPr>
          <a:xfrm>
            <a:off x="1080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Entradas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níveis, diferenças e acelerações em Santa Tereza e a montante; chuva acumulada</a:t>
            </a:r>
          </a:p>
        </p:txBody>
      </p:sp>
      <p:sp>
        <p:nvSpPr>
          <p:cNvPr id="26" name="Seta 1"/>
          <p:cNvSpPr/>
          <p:nvPr/>
        </p:nvSpPr>
        <p:spPr>
          <a:xfrm>
            <a:off x="5436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tapa 2"/>
          <p:cNvSpPr/>
          <p:nvPr/>
        </p:nvSpPr>
        <p:spPr>
          <a:xfrm>
            <a:off x="6048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RNA MLP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1 camada oculta · sigmoide · retropropagação com gradiente adaptativo</a:t>
            </a:r>
          </a:p>
        </p:txBody>
      </p:sp>
      <p:sp>
        <p:nvSpPr>
          <p:cNvPr id="28" name="Seta 2"/>
          <p:cNvSpPr/>
          <p:nvPr/>
        </p:nvSpPr>
        <p:spPr>
          <a:xfrm>
            <a:off x="10404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tapa 3"/>
          <p:cNvSpPr/>
          <p:nvPr/>
        </p:nvSpPr>
        <p:spPr>
          <a:xfrm>
            <a:off x="11016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Saída da RNA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variação do nível ΔH = H(t+h) − H(t)</a:t>
            </a:r>
          </a:p>
        </p:txBody>
      </p:sp>
      <p:sp>
        <p:nvSpPr>
          <p:cNvPr id="30" name="Seta 3"/>
          <p:cNvSpPr/>
          <p:nvPr/>
        </p:nvSpPr>
        <p:spPr>
          <a:xfrm>
            <a:off x="15372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tapa 4"/>
          <p:cNvSpPr/>
          <p:nvPr/>
        </p:nvSpPr>
        <p:spPr>
          <a:xfrm>
            <a:off x="15984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Nível previsto</a:t>
            </a:r>
          </a:p>
          <a:p>
            <a:pPr algn="ctr"/>
            <a:r>
              <a:rPr sz="1800" b="0" i="0">
                <a:solidFill>
                  <a:srgbClr val="FFFFFF"/>
                </a:solidFill>
                <a:latin typeface="Arial"/>
              </a:rPr>
              <a:t>Ĥ(t+h) = H(t) + ΔH</a:t>
            </a:r>
          </a:p>
        </p:txBody>
      </p:sp>
      <p:sp>
        <p:nvSpPr>
          <p:cNvPr id="32" name="Texto metodologia"/>
          <p:cNvSpPr txBox="1"/>
          <p:nvPr/>
        </p:nvSpPr>
        <p:spPr>
          <a:xfrm>
            <a:off x="1080000" y="18036000"/>
            <a:ext cx="9360000" cy="22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2000" indent="-252000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Neurônios ocultos ≈ 2 × nº de entradas; 10 inicializações por rede</a:t>
            </a:r>
          </a:p>
          <a:p>
            <a:pPr algn="l" marL="252000" indent="-252000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Entradas escolhidas por algoritmo de busca em Python; redes treinadas no MATLAB</a:t>
            </a:r>
          </a:p>
          <a:p>
            <a:pPr algn="l" marL="252000" indent="-252000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Avaliação: NSE, PME (ganho sobre a persistência), EAM e E95 (erro não superado em 95%)</a:t>
            </a:r>
          </a:p>
        </p:txBody>
      </p:sp>
      <p:graphicFrame>
        <p:nvGraphicFramePr>
          <p:cNvPr id="33" name="Tabela configuracao"/>
          <p:cNvGraphicFramePr>
            <a:graphicFrameLocks noGrp="1"/>
          </p:cNvGraphicFramePr>
          <p:nvPr/>
        </p:nvGraphicFramePr>
        <p:xfrm>
          <a:off x="10944000" y="18036000"/>
          <a:ext cx="9360000" cy="180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6471"/>
                <a:gridCol w="1445294"/>
                <a:gridCol w="1582941"/>
                <a:gridCol w="4955294"/>
              </a:tblGrid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Entradas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Neurônios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Variáveis de entrada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2h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Santa Tereza e Linha José Júlio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4h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+ 2 postos a montante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8h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7 postos fluviométricos + chuva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ecao RESULTADOS"/>
          <p:cNvSpPr/>
          <p:nvPr/>
        </p:nvSpPr>
        <p:spPr>
          <a:xfrm>
            <a:off x="1080000" y="20232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RESULTADOS</a:t>
            </a:r>
          </a:p>
        </p:txBody>
      </p:sp>
      <p:pic>
        <p:nvPicPr>
          <p:cNvPr id="35" name="Dispersao previsto x observado" descr="dispersa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2000" y="20844000"/>
            <a:ext cx="15480000" cy="5110385"/>
          </a:xfrm>
          <a:prstGeom prst="rect">
            <a:avLst/>
          </a:prstGeom>
        </p:spPr>
      </p:pic>
      <p:sp>
        <p:nvSpPr>
          <p:cNvPr id="36" name="Legenda dispersao"/>
          <p:cNvSpPr txBox="1"/>
          <p:nvPr/>
        </p:nvSpPr>
        <p:spPr>
          <a:xfrm>
            <a:off x="1080000" y="25990385"/>
            <a:ext cx="192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2 – Nível previsto × observado (série completa) dos modelos ALT ao vivo em Santa Tereza.</a:t>
            </a:r>
          </a:p>
        </p:txBody>
      </p:sp>
      <p:graphicFrame>
        <p:nvGraphicFramePr>
          <p:cNvPr id="37" name="Tabela resultados"/>
          <p:cNvGraphicFramePr>
            <a:graphicFrameLocks noGrp="1"/>
          </p:cNvGraphicFramePr>
          <p:nvPr/>
        </p:nvGraphicFramePr>
        <p:xfrm>
          <a:off x="1080000" y="26386385"/>
          <a:ext cx="9360001" cy="180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29008"/>
                <a:gridCol w="1429008"/>
                <a:gridCol w="1429008"/>
                <a:gridCol w="1500458"/>
                <a:gridCol w="1357557"/>
                <a:gridCol w="2214962"/>
              </a:tblGrid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Teste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NSE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PME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EAM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E95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EAM × persist.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2h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0,969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3,5 cm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10 cm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−81%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4h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0,878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14,0 cm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59 cm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−65%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8h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0,979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0,927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23,3 cm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64 cm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−69%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Legenda tabela"/>
          <p:cNvSpPr txBox="1"/>
          <p:nvPr/>
        </p:nvSpPr>
        <p:spPr>
          <a:xfrm>
            <a:off x="1080000" y="28258385"/>
            <a:ext cx="93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Tabela 1 – Desempenho no conjunto de teste (eventos não usados no treinamento).</a:t>
            </a:r>
          </a:p>
        </p:txBody>
      </p:sp>
      <p:sp>
        <p:nvSpPr>
          <p:cNvPr id="39" name="Secao CONCLUSÕES"/>
          <p:cNvSpPr/>
          <p:nvPr/>
        </p:nvSpPr>
        <p:spPr>
          <a:xfrm>
            <a:off x="1080000" y="28690385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CONCLUSÕES</a:t>
            </a:r>
          </a:p>
        </p:txBody>
      </p:sp>
      <p:sp>
        <p:nvSpPr>
          <p:cNvPr id="40" name="Texto conclusoes"/>
          <p:cNvSpPr txBox="1"/>
          <p:nvPr/>
        </p:nvSpPr>
        <p:spPr>
          <a:xfrm>
            <a:off x="1080000" y="29374385"/>
            <a:ext cx="9360000" cy="39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2000" indent="-252000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Nos três horizontes, a abordagem ALT alcançou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NSE ≥ 0,979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e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PME de 0,88 a 0,97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no teste.</a:t>
            </a:r>
          </a:p>
          <a:p>
            <a:pPr algn="l" marL="252000" indent="-252000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O erro médio cai 65–81% frente à persistência e cresce com a antecedência (de 3,5 a 23 cm).</a:t>
            </a:r>
          </a:p>
          <a:p>
            <a:pPr algn="l" marL="252000" indent="-252000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Em tempo real, o modelo 2h acompanhou a cheia de set/2026 com erro médio de 9 cm: potencial de uso operacional no alerta de Santa Tereza.</a:t>
            </a:r>
          </a:p>
        </p:txBody>
      </p:sp>
      <p:sp>
        <p:nvSpPr>
          <p:cNvPr id="41" name="Secao OPERAÇÃO EM TEMPO REAL"/>
          <p:cNvSpPr/>
          <p:nvPr/>
        </p:nvSpPr>
        <p:spPr>
          <a:xfrm>
            <a:off x="10944000" y="26386385"/>
            <a:ext cx="66528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OPERAÇÃO EM TEMPO REAL</a:t>
            </a:r>
          </a:p>
        </p:txBody>
      </p:sp>
      <p:pic>
        <p:nvPicPr>
          <p:cNvPr id="42" name="Operacao ao vivo 2h" descr="ao_vivo_2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44000" y="27034385"/>
            <a:ext cx="8496000" cy="4099814"/>
          </a:xfrm>
          <a:prstGeom prst="rect">
            <a:avLst/>
          </a:prstGeom>
        </p:spPr>
      </p:pic>
      <p:sp>
        <p:nvSpPr>
          <p:cNvPr id="43" name="Legenda ao vivo"/>
          <p:cNvSpPr txBox="1"/>
          <p:nvPr/>
        </p:nvSpPr>
        <p:spPr>
          <a:xfrm>
            <a:off x="10944000" y="31170199"/>
            <a:ext cx="93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3 – Previsão ao vivo 2h × telemetria (25/09 a 05/10/2026).</a:t>
            </a:r>
          </a:p>
        </p:txBody>
      </p:sp>
      <p:sp>
        <p:nvSpPr>
          <p:cNvPr id="44" name="Texto ao vivo"/>
          <p:cNvSpPr txBox="1"/>
          <p:nvPr/>
        </p:nvSpPr>
        <p:spPr>
          <a:xfrm>
            <a:off x="10944000" y="31530199"/>
            <a:ext cx="936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1F2633"/>
                </a:solidFill>
                <a:latin typeface="Arial"/>
              </a:rPr>
              <a:t>Robô horário com telemetria do SGB/ANA, em teste paralelo ao alerta oficial. Em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230 previsões auditadas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(pico de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13,3 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), o modelo 2h teve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de 9,2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(persistência: 27,2 cm).</a:t>
            </a:r>
          </a:p>
        </p:txBody>
      </p:sp>
      <p:sp>
        <p:nvSpPr>
          <p:cNvPr id="45" name="Referencias e agradecimentos"/>
          <p:cNvSpPr txBox="1"/>
          <p:nvPr/>
        </p:nvSpPr>
        <p:spPr>
          <a:xfrm>
            <a:off x="1080000" y="32868000"/>
            <a:ext cx="19224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5B6573"/>
                </a:solidFill>
                <a:latin typeface="Arial"/>
              </a:rPr>
              <a:t>Referências: </a:t>
            </a:r>
            <a:r>
              <a:rPr sz="1500" b="0" i="0">
                <a:solidFill>
                  <a:srgbClr val="5B6573"/>
                </a:solidFill>
                <a:latin typeface="Arial"/>
              </a:rPr>
              <a:t>ALVISI, S. et al. (2006). Hydrology and Earth System Sciences, 10(1), 1-17. · RUMELHART, D. E. et al. (1986). Nature, 323, 533-536. · KUMAR, V. et al. (2023). Sustainability, 15(13), 10543.   </a:t>
            </a:r>
            <a:r>
              <a:rPr sz="1500" b="1" i="0">
                <a:solidFill>
                  <a:srgbClr val="5B6573"/>
                </a:solidFill>
                <a:latin typeface="Arial"/>
              </a:rPr>
              <a:t>Agradecimentos: </a:t>
            </a:r>
            <a:r>
              <a:rPr sz="1500" b="0" i="0">
                <a:solidFill>
                  <a:srgbClr val="5B6573"/>
                </a:solidFill>
                <a:latin typeface="Arial"/>
              </a:rPr>
              <a:t>FAPERGS (processos 24/2551-0002124-8 e 25/2551-0002522-2).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48</Words>
  <Application>Microsoft Office PowerPoint</Application>
  <PresentationFormat>Personalizar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Montserrat Medium</vt:lpstr>
      <vt:lpstr>Arial</vt:lpstr>
      <vt:lpstr>Montserrat Bold</vt:lpstr>
      <vt:lpstr>Calibri</vt:lpstr>
      <vt:lpstr>Montaser Arabic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II Encontro Brasileiro de Hidrologia Estatística</dc:title>
  <dc:creator>fdn</dc:creator>
  <cp:lastModifiedBy>Juliana Reis</cp:lastModifiedBy>
  <cp:revision>6</cp:revision>
  <dcterms:created xsi:type="dcterms:W3CDTF">2006-08-16T00:00:00Z</dcterms:created>
  <dcterms:modified xsi:type="dcterms:W3CDTF">2026-10-02T18:56:34Z</dcterms:modified>
  <dc:identifier>DAHU89s2k0A</dc:identifier>
</cp:coreProperties>
</file>
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</p:sldIdLst>
  <p:sldSz cx="21383625" cy="36936363"/>
  <p:notesSz cx="6858000" cy="9144000"/>
  <p:embeddedFontLst>
    <p:embeddedFont>
      <p:font typeface="Montaser Arabic" panose="020B0604020202020204" charset="-78"/>
      <p:regular r:id="rId3"/>
    </p:embeddedFont>
    <p:embeddedFont>
      <p:font typeface="Montserrat Bold" panose="020B0604020202020204" charset="0"/>
      <p:regular r:id="rId4"/>
      <p:bold r:id="rId5"/>
    </p:embeddedFont>
    <p:embeddedFont>
      <p:font typeface="Montserrat Medium" panose="00000600000000000000" pitchFamily="2" charset="0"/>
      <p:regular r:id="rId6"/>
      <p:italic r:id="rId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22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60" d="100"/>
          <a:sy n="60" d="100"/>
        </p:scale>
        <p:origin x="798" y="-960"/>
      </p:cViewPr>
      <p:guideLst>
        <p:guide orient="horz" pos="2022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font" Target="fonts/font1.fntdata"/><Relationship Id="rId4" Type="http://schemas.openxmlformats.org/officeDocument/2006/relationships/font" Target="fonts/font2.fntdata"/><Relationship Id="rId5" Type="http://schemas.openxmlformats.org/officeDocument/2006/relationships/font" Target="fonts/font3.fntdata"/><Relationship Id="rId6" Type="http://schemas.openxmlformats.org/officeDocument/2006/relationships/font" Target="fonts/font4.fntdata"/><Relationship Id="rId7" Type="http://schemas.openxmlformats.org/officeDocument/2006/relationships/font" Target="fonts/font5.fntdata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994392"/>
            <a:ext cx="7772400" cy="137616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8055"/>
            <a:ext cx="6400800" cy="1640691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125507"/>
            <a:ext cx="7772400" cy="1275103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721111"/>
            <a:ext cx="7772400" cy="1404396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498023"/>
            <a:ext cx="4038600" cy="423696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498023"/>
            <a:ext cx="4038600" cy="423696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437092"/>
            <a:ext cx="4040188" cy="598911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036003"/>
            <a:ext cx="4040188" cy="3698987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437092"/>
            <a:ext cx="4041775" cy="598911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2036003"/>
            <a:ext cx="4041775" cy="3698987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55615"/>
            <a:ext cx="3008313" cy="10878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55615"/>
            <a:ext cx="5111750" cy="547937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343465"/>
            <a:ext cx="3008313" cy="439152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494068"/>
            <a:ext cx="5486400" cy="5305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573648"/>
            <a:ext cx="5486400" cy="3852058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024618"/>
            <a:ext cx="5486400" cy="75346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57102"/>
            <a:ext cx="2057400" cy="547788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57102"/>
            <a:ext cx="6019800" cy="547788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57102"/>
            <a:ext cx="8229600" cy="10700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498023"/>
            <a:ext cx="8229600" cy="423696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5950479"/>
            <a:ext cx="2133600" cy="3418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5950479"/>
            <a:ext cx="2895600" cy="3418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5950479"/>
            <a:ext cx="2133600" cy="3418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CDD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205646" y="5125261"/>
            <a:ext cx="20559580" cy="30703757"/>
          </a:xfrm>
          <a:custGeom>
            <a:avLst/>
            <a:gdLst/>
            <a:ahLst/>
            <a:cxnLst/>
            <a:rect l="l" t="t" r="r" b="b"/>
            <a:pathLst>
              <a:path w="20559580" h="31027606">
                <a:moveTo>
                  <a:pt x="0" y="0"/>
                </a:moveTo>
                <a:lnTo>
                  <a:pt x="20559580" y="0"/>
                </a:lnTo>
                <a:lnTo>
                  <a:pt x="20559580" y="31027606"/>
                </a:lnTo>
                <a:lnTo>
                  <a:pt x="0" y="3102760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r="-1811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0" y="33162109"/>
            <a:ext cx="21372000" cy="3774254"/>
          </a:xfrm>
          <a:custGeom>
            <a:avLst/>
            <a:gdLst/>
            <a:ahLst/>
            <a:cxnLst/>
            <a:rect l="l" t="t" r="r" b="b"/>
            <a:pathLst>
              <a:path w="21372000" h="3774254">
                <a:moveTo>
                  <a:pt x="0" y="0"/>
                </a:moveTo>
                <a:lnTo>
                  <a:pt x="21372000" y="0"/>
                </a:lnTo>
                <a:lnTo>
                  <a:pt x="21372000" y="3774254"/>
                </a:lnTo>
                <a:lnTo>
                  <a:pt x="0" y="3774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0" y="10717"/>
            <a:ext cx="21372000" cy="2259069"/>
          </a:xfrm>
          <a:custGeom>
            <a:avLst/>
            <a:gdLst/>
            <a:ahLst/>
            <a:cxnLst/>
            <a:rect l="l" t="t" r="r" b="b"/>
            <a:pathLst>
              <a:path w="21372000" h="2259069">
                <a:moveTo>
                  <a:pt x="0" y="0"/>
                </a:moveTo>
                <a:lnTo>
                  <a:pt x="21372000" y="0"/>
                </a:lnTo>
                <a:lnTo>
                  <a:pt x="21372000" y="2259069"/>
                </a:lnTo>
                <a:lnTo>
                  <a:pt x="0" y="22590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t="-2273" b="-2273"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4063313" y="1369330"/>
            <a:ext cx="442955" cy="2702024"/>
          </a:xfrm>
          <a:custGeom>
            <a:avLst/>
            <a:gdLst/>
            <a:ahLst/>
            <a:cxnLst/>
            <a:rect l="l" t="t" r="r" b="b"/>
            <a:pathLst>
              <a:path w="442955" h="2702024">
                <a:moveTo>
                  <a:pt x="0" y="0"/>
                </a:moveTo>
                <a:lnTo>
                  <a:pt x="442955" y="0"/>
                </a:lnTo>
                <a:lnTo>
                  <a:pt x="442955" y="2702024"/>
                </a:lnTo>
                <a:lnTo>
                  <a:pt x="0" y="270202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1090612" y="5904177"/>
            <a:ext cx="19202399" cy="147732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pt-BR" sz="48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REDES NEURAIS ARTIFICIAIS PARA PREVISÃO DE CHEIAS NO RIO TAQUARI, MUNICÍPIO DE SANTA TEREZA, RS </a:t>
            </a:r>
            <a:endParaRPr lang="en-US" sz="4800" b="1" dirty="0">
              <a:solidFill>
                <a:schemeClr val="tx2"/>
              </a:solidFill>
              <a:latin typeface="Arial" panose="020B0604020202020204" pitchFamily="34" charset="0"/>
              <a:ea typeface="Montaser Arabic Semi-Bold"/>
              <a:cs typeface="Arial" panose="020B0604020202020204" pitchFamily="34" charset="0"/>
              <a:sym typeface="Montaser Arabic Semi-Bold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1080000" y="7632000"/>
            <a:ext cx="19224000" cy="7643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sz="2800" dirty="0" b="0" i="0">
                <a:solidFill>
                  <a:srgbClr val="003C64"/>
                </a:solidFill>
                <a:latin typeface="Arial"/>
              </a:rPr>
              <a:t>Juliana Carolino Reis, Guilherme Garcia de Oliveira, Fernanda Vier Jung e Josiane Leci Vanin Barbieri</a:t>
            </a:r>
          </a:p>
          <a:p>
            <a:pPr algn="ctr">
              <a:spcBef>
                <a:spcPts val="400"/>
              </a:spcBef>
            </a:pPr>
            <a:r>
              <a:rPr sz="1900" b="0" i="0">
                <a:solidFill>
                  <a:srgbClr val="5B6573"/>
                </a:solidFill>
                <a:latin typeface="Arial"/>
              </a:rPr>
              <a:t>Universidade Federal do Rio Grande do Sul (UFRGS) – Centro Estadual de Pesquisas em Sensoriamento Remoto e Meteorologia (CEPSRM)  ·  julianacarolinoreis@gmail.com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726588" y="1175352"/>
            <a:ext cx="13794084" cy="4339367"/>
            <a:chOff x="0" y="0"/>
            <a:chExt cx="18392113" cy="5785823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632758" cy="5785823"/>
            </a:xfrm>
            <a:custGeom>
              <a:avLst/>
              <a:gdLst/>
              <a:ahLst/>
              <a:cxnLst/>
              <a:rect l="l" t="t" r="r" b="b"/>
              <a:pathLst>
                <a:path w="8632758" h="5785823">
                  <a:moveTo>
                    <a:pt x="0" y="0"/>
                  </a:moveTo>
                  <a:lnTo>
                    <a:pt x="8632758" y="0"/>
                  </a:lnTo>
                  <a:lnTo>
                    <a:pt x="8632758" y="5785823"/>
                  </a:lnTo>
                  <a:lnTo>
                    <a:pt x="0" y="57858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t="-28575" b="-30153"/>
              </a:stretch>
            </a:blipFill>
          </p:spPr>
        </p:sp>
        <p:sp>
          <p:nvSpPr>
            <p:cNvPr id="10" name="Freeform 10"/>
            <p:cNvSpPr/>
            <p:nvPr/>
          </p:nvSpPr>
          <p:spPr>
            <a:xfrm>
              <a:off x="3873399" y="1426401"/>
              <a:ext cx="2788615" cy="1344228"/>
            </a:xfrm>
            <a:custGeom>
              <a:avLst/>
              <a:gdLst/>
              <a:ahLst/>
              <a:cxnLst/>
              <a:rect l="l" t="t" r="r" b="b"/>
              <a:pathLst>
                <a:path w="2788615" h="1344228">
                  <a:moveTo>
                    <a:pt x="0" y="0"/>
                  </a:moveTo>
                  <a:lnTo>
                    <a:pt x="2788615" y="0"/>
                  </a:lnTo>
                  <a:lnTo>
                    <a:pt x="2788615" y="1344229"/>
                  </a:lnTo>
                  <a:lnTo>
                    <a:pt x="0" y="13442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-3609" r="-3609"/>
              </a:stretch>
            </a:blipFill>
          </p:spPr>
        </p:sp>
        <p:grpSp>
          <p:nvGrpSpPr>
            <p:cNvPr id="11" name="Group 11"/>
            <p:cNvGrpSpPr/>
            <p:nvPr/>
          </p:nvGrpSpPr>
          <p:grpSpPr>
            <a:xfrm>
              <a:off x="3279381" y="2419016"/>
              <a:ext cx="7030617" cy="1970008"/>
              <a:chOff x="0" y="0"/>
              <a:chExt cx="1480056" cy="414718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1480056" cy="414718"/>
              </a:xfrm>
              <a:custGeom>
                <a:avLst/>
                <a:gdLst/>
                <a:ahLst/>
                <a:cxnLst/>
                <a:rect l="l" t="t" r="r" b="b"/>
                <a:pathLst>
                  <a:path w="1480056" h="414718">
                    <a:moveTo>
                      <a:pt x="0" y="0"/>
                    </a:moveTo>
                    <a:lnTo>
                      <a:pt x="1480056" y="0"/>
                    </a:lnTo>
                    <a:lnTo>
                      <a:pt x="1480056" y="414718"/>
                    </a:lnTo>
                    <a:lnTo>
                      <a:pt x="0" y="414718"/>
                    </a:lnTo>
                    <a:close/>
                  </a:path>
                </a:pathLst>
              </a:custGeom>
            </p:spPr>
          </p:sp>
          <p:sp>
            <p:nvSpPr>
              <p:cNvPr id="13" name="TextBox 13"/>
              <p:cNvSpPr txBox="1"/>
              <p:nvPr/>
            </p:nvSpPr>
            <p:spPr>
              <a:xfrm>
                <a:off x="0" y="-19050"/>
                <a:ext cx="1480056" cy="433768"/>
              </a:xfrm>
              <a:prstGeom prst="rect">
                <a:avLst/>
              </a:prstGeom>
            </p:spPr>
            <p:txBody>
              <a:bodyPr lIns="44264" tIns="44264" rIns="44264" bIns="44264" rtlCol="0" anchor="ctr"/>
              <a:lstStyle/>
              <a:p>
                <a:pPr algn="ctr">
                  <a:lnSpc>
                    <a:spcPts val="623"/>
                  </a:lnSpc>
                </a:pPr>
                <a:endParaRPr/>
              </a:p>
            </p:txBody>
          </p:sp>
        </p:grpSp>
        <p:sp>
          <p:nvSpPr>
            <p:cNvPr id="14" name="TextBox 14"/>
            <p:cNvSpPr txBox="1"/>
            <p:nvPr/>
          </p:nvSpPr>
          <p:spPr>
            <a:xfrm>
              <a:off x="4316379" y="3865402"/>
              <a:ext cx="9897453" cy="53006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3142"/>
                </a:lnSpc>
                <a:spcBef>
                  <a:spcPct val="0"/>
                </a:spcBef>
              </a:pPr>
              <a:r>
                <a:rPr lang="en-US" sz="2708" b="1" spc="-100" dirty="0">
                  <a:solidFill>
                    <a:srgbClr val="036CB5"/>
                  </a:solidFill>
                  <a:latin typeface="Montserrat Medium"/>
                  <a:ea typeface="Montserrat Medium"/>
                  <a:cs typeface="Montserrat Medium"/>
                  <a:sym typeface="Montserrat Medium"/>
                </a:rPr>
                <a:t>26 a 30 de Outubro de 2026 | Fortaleza - CE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316379" y="2493325"/>
              <a:ext cx="14075734" cy="6011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3459"/>
                </a:lnSpc>
              </a:pPr>
              <a:r>
                <a:rPr lang="en-US" sz="3603" b="1" spc="-180">
                  <a:solidFill>
                    <a:srgbClr val="2A378D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V Encontro Nacional de Desastres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316379" y="3215544"/>
              <a:ext cx="14075734" cy="6011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3459"/>
                </a:lnSpc>
              </a:pPr>
              <a:r>
                <a:rPr lang="en-US" sz="3603" b="1" spc="-180" dirty="0">
                  <a:solidFill>
                    <a:srgbClr val="2A378D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II </a:t>
              </a:r>
              <a:r>
                <a:rPr lang="en-US" sz="3603" b="1" spc="-180" dirty="0" err="1">
                  <a:solidFill>
                    <a:srgbClr val="2A378D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Encontro</a:t>
              </a:r>
              <a:r>
                <a:rPr lang="en-US" sz="3603" b="1" spc="-180" dirty="0">
                  <a:solidFill>
                    <a:srgbClr val="2A378D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 </a:t>
              </a:r>
              <a:r>
                <a:rPr lang="en-US" sz="3603" b="1" spc="-180" dirty="0" err="1">
                  <a:solidFill>
                    <a:srgbClr val="2A378D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Brasileiro</a:t>
              </a:r>
              <a:r>
                <a:rPr lang="en-US" sz="3603" b="1" spc="-180" dirty="0">
                  <a:solidFill>
                    <a:srgbClr val="2A378D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 de </a:t>
              </a:r>
              <a:r>
                <a:rPr lang="en-US" sz="3603" b="1" spc="-180" dirty="0" err="1">
                  <a:solidFill>
                    <a:srgbClr val="2A378D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Hidrologia</a:t>
              </a:r>
              <a:r>
                <a:rPr lang="en-US" sz="3603" b="1" spc="-180" dirty="0">
                  <a:solidFill>
                    <a:srgbClr val="2A378D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 </a:t>
              </a:r>
              <a:r>
                <a:rPr lang="en-US" sz="3603" b="1" spc="-180" dirty="0" err="1">
                  <a:solidFill>
                    <a:srgbClr val="2A378D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Estatística</a:t>
              </a:r>
              <a:endParaRPr lang="en-US" sz="3603" b="1" spc="-180" dirty="0">
                <a:solidFill>
                  <a:srgbClr val="2A378D"/>
                </a:solidFill>
                <a:latin typeface="Montserrat Bold"/>
                <a:ea typeface="Montserrat Bold"/>
                <a:cs typeface="Montserrat Bold"/>
                <a:sym typeface="Montserrat Bold"/>
              </a:endParaRPr>
            </a:p>
          </p:txBody>
        </p:sp>
      </p:grpSp>
      <p:sp>
        <p:nvSpPr>
          <p:cNvPr id="17" name="Freeform 17"/>
          <p:cNvSpPr/>
          <p:nvPr/>
        </p:nvSpPr>
        <p:spPr>
          <a:xfrm>
            <a:off x="14506267" y="1932185"/>
            <a:ext cx="6150770" cy="3127980"/>
          </a:xfrm>
          <a:custGeom>
            <a:avLst/>
            <a:gdLst/>
            <a:ahLst/>
            <a:cxnLst/>
            <a:rect l="l" t="t" r="r" b="b"/>
            <a:pathLst>
              <a:path w="6150770" h="3127980">
                <a:moveTo>
                  <a:pt x="0" y="0"/>
                </a:moveTo>
                <a:lnTo>
                  <a:pt x="6150770" y="0"/>
                </a:lnTo>
                <a:lnTo>
                  <a:pt x="6150770" y="3127980"/>
                </a:lnTo>
                <a:lnTo>
                  <a:pt x="0" y="312798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-100256" r="-4529"/>
            </a:stretch>
          </a:blipFill>
        </p:spPr>
      </p:sp>
      <p:sp>
        <p:nvSpPr>
          <p:cNvPr id="18" name="Secao INTRODUÇÃO"/>
          <p:cNvSpPr/>
          <p:nvPr/>
        </p:nvSpPr>
        <p:spPr>
          <a:xfrm>
            <a:off x="1080000" y="9072000"/>
            <a:ext cx="3456000" cy="504000"/>
          </a:xfrm>
          <a:prstGeom prst="roundRect">
            <a:avLst>
              <a:gd name="adj" fmla="val 50000"/>
            </a:avLst>
          </a:prstGeom>
          <a:solidFill>
            <a:srgbClr val="2A3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2000" rIns="252000" tIns="0" bIns="0"/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INTRODUÇÃO</a:t>
            </a:r>
          </a:p>
        </p:txBody>
      </p:sp>
      <p:sp>
        <p:nvSpPr>
          <p:cNvPr id="19" name="Texto introducao"/>
          <p:cNvSpPr txBox="1"/>
          <p:nvPr/>
        </p:nvSpPr>
        <p:spPr>
          <a:xfrm>
            <a:off x="1080000" y="9756000"/>
            <a:ext cx="9360000" cy="172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2400" b="0" i="0">
                <a:solidFill>
                  <a:srgbClr val="1F2633"/>
                </a:solidFill>
                <a:latin typeface="Arial"/>
              </a:rPr>
              <a:t>Previsão do nível do rio Taquari em </a:t>
            </a:r>
            <a:r>
              <a:rPr sz="2400" b="1" i="0">
                <a:solidFill>
                  <a:srgbClr val="1F2633"/>
                </a:solidFill>
                <a:latin typeface="Arial"/>
              </a:rPr>
              <a:t>Santa Tereza (RS)</a:t>
            </a:r>
            <a:r>
              <a:rPr sz="2400" b="0" i="0">
                <a:solidFill>
                  <a:srgbClr val="1F2633"/>
                </a:solidFill>
                <a:latin typeface="Arial"/>
              </a:rPr>
              <a:t> com RNA do tipo MLP, </a:t>
            </a:r>
            <a:r>
              <a:rPr sz="2400" b="1" i="0">
                <a:solidFill>
                  <a:srgbClr val="1F2633"/>
                </a:solidFill>
                <a:latin typeface="Arial"/>
              </a:rPr>
              <a:t>2, 4 e 8 h</a:t>
            </a:r>
            <a:r>
              <a:rPr sz="2400" b="0" i="0">
                <a:solidFill>
                  <a:srgbClr val="1F2633"/>
                </a:solidFill>
                <a:latin typeface="Arial"/>
              </a:rPr>
              <a:t> à frente. Na </a:t>
            </a:r>
            <a:r>
              <a:rPr sz="2400" b="1" i="0">
                <a:solidFill>
                  <a:srgbClr val="D9661F"/>
                </a:solidFill>
                <a:latin typeface="Arial"/>
              </a:rPr>
              <a:t>abordagem alternativa (ALT)</a:t>
            </a:r>
            <a:r>
              <a:rPr sz="2400" b="0" i="0">
                <a:solidFill>
                  <a:srgbClr val="1F2633"/>
                </a:solidFill>
                <a:latin typeface="Arial"/>
              </a:rPr>
              <a:t> a rede prevê só a </a:t>
            </a:r>
            <a:r>
              <a:rPr sz="2400" b="1" i="0">
                <a:solidFill>
                  <a:srgbClr val="1F2633"/>
                </a:solidFill>
                <a:latin typeface="Arial"/>
              </a:rPr>
              <a:t>variação</a:t>
            </a:r>
            <a:r>
              <a:rPr sz="2400" b="0" i="0">
                <a:solidFill>
                  <a:srgbClr val="1F2633"/>
                </a:solidFill>
                <a:latin typeface="Arial"/>
              </a:rPr>
              <a:t> do nível.</a:t>
            </a:r>
          </a:p>
        </p:txBody>
      </p:sp>
      <p:sp>
        <p:nvSpPr>
          <p:cNvPr id="20" name="Dado 1"/>
          <p:cNvSpPr/>
          <p:nvPr/>
        </p:nvSpPr>
        <p:spPr>
          <a:xfrm>
            <a:off x="1080000" y="11664000"/>
            <a:ext cx="2928000" cy="1656000"/>
          </a:xfrm>
          <a:prstGeom prst="roundRect">
            <a:avLst>
              <a:gd name="adj" fmla="val 12000"/>
            </a:avLst>
          </a:prstGeom>
          <a:solidFill>
            <a:srgbClr val="E6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36000" bIns="36000"/>
          <a:lstStyle/>
          <a:p>
            <a:pPr algn="ctr"/>
            <a:r>
              <a:rPr sz="3000" b="1" i="0">
                <a:solidFill>
                  <a:srgbClr val="2A378D"/>
                </a:solidFill>
                <a:latin typeface="Arial"/>
              </a:rPr>
              <a:t>15.800 km²</a:t>
            </a:r>
          </a:p>
          <a:p>
            <a:pPr algn="ctr"/>
            <a:r>
              <a:rPr sz="1800" b="0" i="0">
                <a:solidFill>
                  <a:srgbClr val="1F2633"/>
                </a:solidFill>
                <a:latin typeface="Arial"/>
              </a:rPr>
              <a:t>bacia até Santa Tereza</a:t>
            </a:r>
          </a:p>
        </p:txBody>
      </p:sp>
      <p:sp>
        <p:nvSpPr>
          <p:cNvPr id="21" name="Dado 2"/>
          <p:cNvSpPr/>
          <p:nvPr/>
        </p:nvSpPr>
        <p:spPr>
          <a:xfrm>
            <a:off x="4296000" y="11664000"/>
            <a:ext cx="2928000" cy="1656000"/>
          </a:xfrm>
          <a:prstGeom prst="roundRect">
            <a:avLst>
              <a:gd name="adj" fmla="val 12000"/>
            </a:avLst>
          </a:prstGeom>
          <a:solidFill>
            <a:srgbClr val="E6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36000" bIns="36000"/>
          <a:lstStyle/>
          <a:p>
            <a:pPr algn="ctr"/>
            <a:r>
              <a:rPr sz="3000" b="1" i="0">
                <a:solidFill>
                  <a:srgbClr val="2A378D"/>
                </a:solidFill>
                <a:latin typeface="Arial"/>
              </a:rPr>
              <a:t>2022–2025</a:t>
            </a:r>
          </a:p>
          <a:p>
            <a:pPr algn="ctr"/>
            <a:r>
              <a:rPr sz="1800" b="0" i="0">
                <a:solidFill>
                  <a:srgbClr val="1F2633"/>
                </a:solidFill>
                <a:latin typeface="Arial"/>
              </a:rPr>
              <a:t>dados horários ANA/SGB</a:t>
            </a:r>
          </a:p>
        </p:txBody>
      </p:sp>
      <p:sp>
        <p:nvSpPr>
          <p:cNvPr id="22" name="Dado 3"/>
          <p:cNvSpPr/>
          <p:nvPr/>
        </p:nvSpPr>
        <p:spPr>
          <a:xfrm>
            <a:off x="7512000" y="11664000"/>
            <a:ext cx="2928000" cy="1656000"/>
          </a:xfrm>
          <a:prstGeom prst="roundRect">
            <a:avLst>
              <a:gd name="adj" fmla="val 12000"/>
            </a:avLst>
          </a:prstGeom>
          <a:solidFill>
            <a:srgbClr val="E6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36000" bIns="36000"/>
          <a:lstStyle/>
          <a:p>
            <a:pPr algn="ctr"/>
            <a:r>
              <a:rPr sz="3000" b="1" i="0">
                <a:solidFill>
                  <a:srgbClr val="2A378D"/>
                </a:solidFill>
                <a:latin typeface="Arial"/>
              </a:rPr>
              <a:t>3 grupos</a:t>
            </a:r>
          </a:p>
          <a:p>
            <a:pPr algn="ctr"/>
            <a:r>
              <a:rPr sz="1800" b="0" i="0">
                <a:solidFill>
                  <a:srgbClr val="1F2633"/>
                </a:solidFill>
                <a:latin typeface="Arial"/>
              </a:rPr>
              <a:t>eventos de cheia: treino, validação e teste</a:t>
            </a:r>
          </a:p>
        </p:txBody>
      </p:sp>
      <p:pic>
        <p:nvPicPr>
          <p:cNvPr id="23" name="Mapa da bacia" descr="map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934000" y="9072000"/>
            <a:ext cx="7380000" cy="5054627"/>
          </a:xfrm>
          <a:prstGeom prst="rect">
            <a:avLst/>
          </a:prstGeom>
        </p:spPr>
      </p:pic>
      <p:sp>
        <p:nvSpPr>
          <p:cNvPr id="24" name="Legenda mapa"/>
          <p:cNvSpPr txBox="1"/>
          <p:nvPr/>
        </p:nvSpPr>
        <p:spPr>
          <a:xfrm>
            <a:off x="10944000" y="14198627"/>
            <a:ext cx="936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5B6573"/>
                </a:solidFill>
                <a:latin typeface="Arial"/>
              </a:rPr>
              <a:t>Figura 1 – Bacia do rio Taquari até Santa Tereza e postos fluviométricos.</a:t>
            </a:r>
          </a:p>
        </p:txBody>
      </p:sp>
      <p:sp>
        <p:nvSpPr>
          <p:cNvPr id="25" name="Secao ABORDAGEM ALTERNATIVA (ALT)"/>
          <p:cNvSpPr/>
          <p:nvPr/>
        </p:nvSpPr>
        <p:spPr>
          <a:xfrm>
            <a:off x="1080000" y="14760000"/>
            <a:ext cx="7984800" cy="504000"/>
          </a:xfrm>
          <a:prstGeom prst="roundRect">
            <a:avLst>
              <a:gd name="adj" fmla="val 50000"/>
            </a:avLst>
          </a:prstGeom>
          <a:solidFill>
            <a:srgbClr val="2A3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2000" rIns="252000" tIns="0" bIns="0"/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ABORDAGEM ALTERNATIVA (ALT)</a:t>
            </a:r>
          </a:p>
        </p:txBody>
      </p:sp>
      <p:sp>
        <p:nvSpPr>
          <p:cNvPr id="26" name="Etapa 1"/>
          <p:cNvSpPr/>
          <p:nvPr/>
        </p:nvSpPr>
        <p:spPr>
          <a:xfrm>
            <a:off x="1080000" y="15480000"/>
            <a:ext cx="4248000" cy="1584000"/>
          </a:xfrm>
          <a:prstGeom prst="roundRect">
            <a:avLst>
              <a:gd name="adj" fmla="val 12000"/>
            </a:avLst>
          </a:prstGeom>
          <a:solidFill>
            <a:srgbClr val="E6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72000" bIns="72000"/>
          <a:lstStyle/>
          <a:p>
            <a:pPr algn="ctr"/>
            <a:r>
              <a:rPr sz="2600" b="1" i="0">
                <a:solidFill>
                  <a:srgbClr val="D9661F"/>
                </a:solidFill>
                <a:latin typeface="Arial"/>
              </a:rPr>
              <a:t>Entradas</a:t>
            </a:r>
          </a:p>
          <a:p>
            <a:pPr algn="ctr"/>
            <a:r>
              <a:rPr sz="1900" b="0" i="0">
                <a:solidFill>
                  <a:srgbClr val="1F2633"/>
                </a:solidFill>
                <a:latin typeface="Arial"/>
              </a:rPr>
              <a:t>níveis, diferenças e acelerações (local e montante) + chuva</a:t>
            </a:r>
          </a:p>
        </p:txBody>
      </p:sp>
      <p:sp>
        <p:nvSpPr>
          <p:cNvPr id="27" name="Seta 1"/>
          <p:cNvSpPr/>
          <p:nvPr/>
        </p:nvSpPr>
        <p:spPr>
          <a:xfrm>
            <a:off x="5436000" y="16056000"/>
            <a:ext cx="504000" cy="432000"/>
          </a:xfrm>
          <a:prstGeom prst="rightArrow">
            <a:avLst/>
          </a:prstGeom>
          <a:solidFill>
            <a:srgbClr val="D96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Etapa 2"/>
          <p:cNvSpPr/>
          <p:nvPr/>
        </p:nvSpPr>
        <p:spPr>
          <a:xfrm>
            <a:off x="6048000" y="15480000"/>
            <a:ext cx="4248000" cy="1584000"/>
          </a:xfrm>
          <a:prstGeom prst="roundRect">
            <a:avLst>
              <a:gd name="adj" fmla="val 12000"/>
            </a:avLst>
          </a:prstGeom>
          <a:solidFill>
            <a:srgbClr val="E6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72000" bIns="72000"/>
          <a:lstStyle/>
          <a:p>
            <a:pPr algn="ctr"/>
            <a:r>
              <a:rPr sz="2600" b="1" i="0">
                <a:solidFill>
                  <a:srgbClr val="D9661F"/>
                </a:solidFill>
                <a:latin typeface="Arial"/>
              </a:rPr>
              <a:t>RNA MLP</a:t>
            </a:r>
          </a:p>
          <a:p>
            <a:pPr algn="ctr"/>
            <a:r>
              <a:rPr sz="1900" b="0" i="0">
                <a:solidFill>
                  <a:srgbClr val="1F2633"/>
                </a:solidFill>
                <a:latin typeface="Arial"/>
              </a:rPr>
              <a:t>1 camada oculta · sigmoide · retropropagação</a:t>
            </a:r>
          </a:p>
        </p:txBody>
      </p:sp>
      <p:sp>
        <p:nvSpPr>
          <p:cNvPr id="29" name="Seta 2"/>
          <p:cNvSpPr/>
          <p:nvPr/>
        </p:nvSpPr>
        <p:spPr>
          <a:xfrm>
            <a:off x="10404000" y="16056000"/>
            <a:ext cx="504000" cy="432000"/>
          </a:xfrm>
          <a:prstGeom prst="rightArrow">
            <a:avLst/>
          </a:prstGeom>
          <a:solidFill>
            <a:srgbClr val="D96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Etapa 3"/>
          <p:cNvSpPr/>
          <p:nvPr/>
        </p:nvSpPr>
        <p:spPr>
          <a:xfrm>
            <a:off x="11016000" y="15480000"/>
            <a:ext cx="4248000" cy="1584000"/>
          </a:xfrm>
          <a:prstGeom prst="roundRect">
            <a:avLst>
              <a:gd name="adj" fmla="val 12000"/>
            </a:avLst>
          </a:prstGeom>
          <a:solidFill>
            <a:srgbClr val="E6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72000" bIns="72000"/>
          <a:lstStyle/>
          <a:p>
            <a:pPr algn="ctr"/>
            <a:r>
              <a:rPr sz="2600" b="1" i="0">
                <a:solidFill>
                  <a:srgbClr val="D9661F"/>
                </a:solidFill>
                <a:latin typeface="Arial"/>
              </a:rPr>
              <a:t>Saída da RNA</a:t>
            </a:r>
          </a:p>
          <a:p>
            <a:pPr algn="ctr"/>
            <a:r>
              <a:rPr sz="1900" b="0" i="0">
                <a:solidFill>
                  <a:srgbClr val="1F2633"/>
                </a:solidFill>
                <a:latin typeface="Arial"/>
              </a:rPr>
              <a:t>ΔH = H(t+h) − H(t)</a:t>
            </a:r>
          </a:p>
        </p:txBody>
      </p:sp>
      <p:sp>
        <p:nvSpPr>
          <p:cNvPr id="31" name="Seta 3"/>
          <p:cNvSpPr/>
          <p:nvPr/>
        </p:nvSpPr>
        <p:spPr>
          <a:xfrm>
            <a:off x="15372000" y="16056000"/>
            <a:ext cx="504000" cy="432000"/>
          </a:xfrm>
          <a:prstGeom prst="rightArrow">
            <a:avLst/>
          </a:prstGeom>
          <a:solidFill>
            <a:srgbClr val="D96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Etapa 4"/>
          <p:cNvSpPr/>
          <p:nvPr/>
        </p:nvSpPr>
        <p:spPr>
          <a:xfrm>
            <a:off x="15984000" y="15480000"/>
            <a:ext cx="4248000" cy="1584000"/>
          </a:xfrm>
          <a:prstGeom prst="roundRect">
            <a:avLst>
              <a:gd name="adj" fmla="val 12000"/>
            </a:avLst>
          </a:prstGeom>
          <a:solidFill>
            <a:srgbClr val="2A3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72000" bIns="720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Arial"/>
              </a:rPr>
              <a:t>Nível previsto</a:t>
            </a:r>
          </a:p>
          <a:p>
            <a:pPr algn="ctr"/>
            <a:r>
              <a:rPr sz="1900" b="0" i="0">
                <a:solidFill>
                  <a:srgbClr val="FFFFFF"/>
                </a:solidFill>
                <a:latin typeface="Arial"/>
              </a:rPr>
              <a:t>Ĥ(t+h) = H(t) + ΔH</a:t>
            </a:r>
          </a:p>
        </p:txBody>
      </p:sp>
      <p:sp>
        <p:nvSpPr>
          <p:cNvPr id="33" name="Config 2h"/>
          <p:cNvSpPr/>
          <p:nvPr/>
        </p:nvSpPr>
        <p:spPr>
          <a:xfrm>
            <a:off x="1080000" y="17316000"/>
            <a:ext cx="6168000" cy="504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36000" bIns="36000"/>
          <a:lstStyle/>
          <a:p>
            <a:pPr algn="ctr"/>
            <a:r>
              <a:rPr sz="4000" b="1" i="0">
                <a:solidFill>
                  <a:srgbClr val="2A378D"/>
                </a:solidFill>
                <a:latin typeface="Arial"/>
              </a:rPr>
              <a:t/>
            </a:r>
          </a:p>
          <a:p>
            <a:pPr algn="ctr"/>
            <a:r>
              <a:rPr sz="1800" b="0" i="0">
                <a:solidFill>
                  <a:srgbClr val="1F2633"/>
                </a:solidFill>
                <a:latin typeface="Arial"/>
              </a:rPr>
              <a:t/>
            </a:r>
          </a:p>
        </p:txBody>
      </p:sp>
      <p:sp>
        <p:nvSpPr>
          <p:cNvPr id="34" name="Texto config 2h"/>
          <p:cNvSpPr txBox="1"/>
          <p:nvPr/>
        </p:nvSpPr>
        <p:spPr>
          <a:xfrm>
            <a:off x="1080000" y="17388000"/>
            <a:ext cx="6168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600"/>
              </a:spcAft>
            </a:pPr>
            <a:r>
              <a:rPr sz="2100" b="1" i="0">
                <a:solidFill>
                  <a:srgbClr val="2A378D"/>
                </a:solidFill>
                <a:latin typeface="Arial"/>
              </a:rPr>
              <a:t>ALT 2h: </a:t>
            </a:r>
            <a:r>
              <a:rPr sz="2100" b="0" i="0">
                <a:solidFill>
                  <a:srgbClr val="1F2633"/>
                </a:solidFill>
                <a:latin typeface="Arial"/>
              </a:rPr>
              <a:t>15 entradas · 30 neurônios</a:t>
            </a:r>
          </a:p>
        </p:txBody>
      </p:sp>
      <p:sp>
        <p:nvSpPr>
          <p:cNvPr id="35" name="Config 4h"/>
          <p:cNvSpPr/>
          <p:nvPr/>
        </p:nvSpPr>
        <p:spPr>
          <a:xfrm>
            <a:off x="7608000" y="17316000"/>
            <a:ext cx="6168000" cy="504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36000" bIns="36000"/>
          <a:lstStyle/>
          <a:p>
            <a:pPr algn="ctr"/>
            <a:r>
              <a:rPr sz="4000" b="1" i="0">
                <a:solidFill>
                  <a:srgbClr val="2A378D"/>
                </a:solidFill>
                <a:latin typeface="Arial"/>
              </a:rPr>
              <a:t/>
            </a:r>
          </a:p>
          <a:p>
            <a:pPr algn="ctr"/>
            <a:r>
              <a:rPr sz="1800" b="0" i="0">
                <a:solidFill>
                  <a:srgbClr val="1F2633"/>
                </a:solidFill>
                <a:latin typeface="Arial"/>
              </a:rPr>
              <a:t/>
            </a:r>
          </a:p>
        </p:txBody>
      </p:sp>
      <p:sp>
        <p:nvSpPr>
          <p:cNvPr id="36" name="Texto config 4h"/>
          <p:cNvSpPr txBox="1"/>
          <p:nvPr/>
        </p:nvSpPr>
        <p:spPr>
          <a:xfrm>
            <a:off x="7608000" y="17388000"/>
            <a:ext cx="6168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600"/>
              </a:spcAft>
            </a:pPr>
            <a:r>
              <a:rPr sz="2100" b="1" i="0">
                <a:solidFill>
                  <a:srgbClr val="2A378D"/>
                </a:solidFill>
                <a:latin typeface="Arial"/>
              </a:rPr>
              <a:t>ALT 4h: </a:t>
            </a:r>
            <a:r>
              <a:rPr sz="2100" b="0" i="0">
                <a:solidFill>
                  <a:srgbClr val="1F2633"/>
                </a:solidFill>
                <a:latin typeface="Arial"/>
              </a:rPr>
              <a:t>26 entradas · 52 neurônios</a:t>
            </a:r>
          </a:p>
        </p:txBody>
      </p:sp>
      <p:sp>
        <p:nvSpPr>
          <p:cNvPr id="37" name="Config 8h"/>
          <p:cNvSpPr/>
          <p:nvPr/>
        </p:nvSpPr>
        <p:spPr>
          <a:xfrm>
            <a:off x="14136000" y="17316000"/>
            <a:ext cx="6168000" cy="504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36000" bIns="36000"/>
          <a:lstStyle/>
          <a:p>
            <a:pPr algn="ctr"/>
            <a:r>
              <a:rPr sz="4000" b="1" i="0">
                <a:solidFill>
                  <a:srgbClr val="2A378D"/>
                </a:solidFill>
                <a:latin typeface="Arial"/>
              </a:rPr>
              <a:t/>
            </a:r>
          </a:p>
          <a:p>
            <a:pPr algn="ctr"/>
            <a:r>
              <a:rPr sz="1800" b="0" i="0">
                <a:solidFill>
                  <a:srgbClr val="1F2633"/>
                </a:solidFill>
                <a:latin typeface="Arial"/>
              </a:rPr>
              <a:t/>
            </a:r>
          </a:p>
        </p:txBody>
      </p:sp>
      <p:sp>
        <p:nvSpPr>
          <p:cNvPr id="38" name="Texto config 8h"/>
          <p:cNvSpPr txBox="1"/>
          <p:nvPr/>
        </p:nvSpPr>
        <p:spPr>
          <a:xfrm>
            <a:off x="14136000" y="17388000"/>
            <a:ext cx="6168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600"/>
              </a:spcAft>
            </a:pPr>
            <a:r>
              <a:rPr sz="2100" b="1" i="0">
                <a:solidFill>
                  <a:srgbClr val="2A378D"/>
                </a:solidFill>
                <a:latin typeface="Arial"/>
              </a:rPr>
              <a:t>ALT 8h: </a:t>
            </a:r>
            <a:r>
              <a:rPr sz="2100" b="0" i="0">
                <a:solidFill>
                  <a:srgbClr val="1F2633"/>
                </a:solidFill>
                <a:latin typeface="Arial"/>
              </a:rPr>
              <a:t>31 entradas · 63 neurônios</a:t>
            </a:r>
          </a:p>
        </p:txBody>
      </p:sp>
      <p:sp>
        <p:nvSpPr>
          <p:cNvPr id="39" name="Secao RESULTADOS NO TESTE"/>
          <p:cNvSpPr/>
          <p:nvPr/>
        </p:nvSpPr>
        <p:spPr>
          <a:xfrm>
            <a:off x="1080000" y="18252000"/>
            <a:ext cx="5853600" cy="504000"/>
          </a:xfrm>
          <a:prstGeom prst="roundRect">
            <a:avLst>
              <a:gd name="adj" fmla="val 50000"/>
            </a:avLst>
          </a:prstGeom>
          <a:solidFill>
            <a:srgbClr val="2A3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2000" rIns="252000" tIns="0" bIns="0"/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RESULTADOS NO TESTE</a:t>
            </a:r>
          </a:p>
        </p:txBody>
      </p:sp>
      <p:pic>
        <p:nvPicPr>
          <p:cNvPr id="40" name="Dispersao previsto x observado" descr="dispersa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02000" y="18864000"/>
            <a:ext cx="16380000" cy="6195000"/>
          </a:xfrm>
          <a:prstGeom prst="rect">
            <a:avLst/>
          </a:prstGeom>
        </p:spPr>
      </p:pic>
      <p:sp>
        <p:nvSpPr>
          <p:cNvPr id="41" name="Legenda dispersao"/>
          <p:cNvSpPr txBox="1"/>
          <p:nvPr/>
        </p:nvSpPr>
        <p:spPr>
          <a:xfrm>
            <a:off x="1080000" y="25095000"/>
            <a:ext cx="19224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5B6573"/>
                </a:solidFill>
                <a:latin typeface="Arial"/>
              </a:rPr>
              <a:t>Figura 2 – Nível previsto × observado. Métricas no conjunto de teste (eventos não usados no treino).</a:t>
            </a:r>
          </a:p>
        </p:txBody>
      </p:sp>
      <p:sp>
        <p:nvSpPr>
          <p:cNvPr id="42" name="Secao CHEIA DE JUL/2023 · 8 h"/>
          <p:cNvSpPr/>
          <p:nvPr/>
        </p:nvSpPr>
        <p:spPr>
          <a:xfrm>
            <a:off x="1080000" y="25527000"/>
            <a:ext cx="6919200" cy="504000"/>
          </a:xfrm>
          <a:prstGeom prst="roundRect">
            <a:avLst>
              <a:gd name="adj" fmla="val 50000"/>
            </a:avLst>
          </a:prstGeom>
          <a:solidFill>
            <a:srgbClr val="2A3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2000" rIns="252000" tIns="0" bIns="0"/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CHEIA DE JUL/2023 · 8 h</a:t>
            </a:r>
          </a:p>
        </p:txBody>
      </p:sp>
      <p:pic>
        <p:nvPicPr>
          <p:cNvPr id="43" name="Evento de teste 8h" descr="teste_8h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0000" y="26175000"/>
            <a:ext cx="9360000" cy="4516744"/>
          </a:xfrm>
          <a:prstGeom prst="rect">
            <a:avLst/>
          </a:prstGeom>
        </p:spPr>
      </p:pic>
      <p:sp>
        <p:nvSpPr>
          <p:cNvPr id="44" name="Legenda teste 8h"/>
          <p:cNvSpPr txBox="1"/>
          <p:nvPr/>
        </p:nvSpPr>
        <p:spPr>
          <a:xfrm>
            <a:off x="1080000" y="30727744"/>
            <a:ext cx="936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5B6573"/>
                </a:solidFill>
                <a:latin typeface="Arial"/>
              </a:rPr>
              <a:t>Figura 3 – A RNA antecipa a subida; a persistência chega 8 h atrasada.</a:t>
            </a:r>
          </a:p>
        </p:txBody>
      </p:sp>
      <p:sp>
        <p:nvSpPr>
          <p:cNvPr id="45" name="Secao AO VIVO · SET/2026 · 2 h"/>
          <p:cNvSpPr/>
          <p:nvPr/>
        </p:nvSpPr>
        <p:spPr>
          <a:xfrm>
            <a:off x="10944000" y="25527000"/>
            <a:ext cx="7185600" cy="504000"/>
          </a:xfrm>
          <a:prstGeom prst="roundRect">
            <a:avLst>
              <a:gd name="adj" fmla="val 50000"/>
            </a:avLst>
          </a:prstGeom>
          <a:solidFill>
            <a:srgbClr val="2A3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2000" rIns="252000" tIns="0" bIns="0"/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AO VIVO · SET/2026 · 2 h</a:t>
            </a:r>
          </a:p>
        </p:txBody>
      </p:sp>
      <p:pic>
        <p:nvPicPr>
          <p:cNvPr id="46" name="Operacao ao vivo 2h" descr="ao_vivo_2h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944000" y="26175000"/>
            <a:ext cx="9360000" cy="4516744"/>
          </a:xfrm>
          <a:prstGeom prst="rect">
            <a:avLst/>
          </a:prstGeom>
        </p:spPr>
      </p:pic>
      <p:sp>
        <p:nvSpPr>
          <p:cNvPr id="47" name="Legenda ao vivo"/>
          <p:cNvSpPr txBox="1"/>
          <p:nvPr/>
        </p:nvSpPr>
        <p:spPr>
          <a:xfrm>
            <a:off x="10944000" y="30727744"/>
            <a:ext cx="936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5B6573"/>
                </a:solidFill>
                <a:latin typeface="Arial"/>
              </a:rPr>
              <a:t>Figura 4 – 230 previsões auditadas: EAM 9,2 cm (persistência 27,2 cm).</a:t>
            </a:r>
          </a:p>
        </p:txBody>
      </p:sp>
      <p:sp>
        <p:nvSpPr>
          <p:cNvPr id="48" name="Secao CONCLUSÕES"/>
          <p:cNvSpPr/>
          <p:nvPr/>
        </p:nvSpPr>
        <p:spPr>
          <a:xfrm>
            <a:off x="1080000" y="31195744"/>
            <a:ext cx="3456000" cy="504000"/>
          </a:xfrm>
          <a:prstGeom prst="roundRect">
            <a:avLst>
              <a:gd name="adj" fmla="val 50000"/>
            </a:avLst>
          </a:prstGeom>
          <a:solidFill>
            <a:srgbClr val="2A3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2000" rIns="252000" tIns="0" bIns="0"/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CONCLUSÕES</a:t>
            </a:r>
          </a:p>
        </p:txBody>
      </p:sp>
      <p:sp>
        <p:nvSpPr>
          <p:cNvPr id="49" name="Texto conclusoes"/>
          <p:cNvSpPr txBox="1"/>
          <p:nvPr/>
        </p:nvSpPr>
        <p:spPr>
          <a:xfrm>
            <a:off x="1080000" y="31879744"/>
            <a:ext cx="13680000" cy="165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52000" indent="-252000">
              <a:lnSpc>
                <a:spcPct val="108000"/>
              </a:lnSpc>
              <a:spcAft>
                <a:spcPts val="600"/>
              </a:spcAft>
              <a:buClr>
                <a:srgbClr val="D9661F"/>
              </a:buClr>
              <a:buFont typeface="Arial"/>
              <a:buChar char="■"/>
            </a:pPr>
            <a:r>
              <a:rPr sz="2400" b="1" i="0">
                <a:solidFill>
                  <a:srgbClr val="1F2633"/>
                </a:solidFill>
                <a:latin typeface="Arial"/>
              </a:rPr>
              <a:t>NSE ≥ 0,98</a:t>
            </a:r>
            <a:r>
              <a:rPr sz="2400" b="0" i="0">
                <a:solidFill>
                  <a:srgbClr val="1F2633"/>
                </a:solidFill>
                <a:latin typeface="Arial"/>
              </a:rPr>
              <a:t> e erro </a:t>
            </a:r>
            <a:r>
              <a:rPr sz="2400" b="1" i="0">
                <a:solidFill>
                  <a:srgbClr val="1F2633"/>
                </a:solidFill>
                <a:latin typeface="Arial"/>
              </a:rPr>
              <a:t>65–81% menor</a:t>
            </a:r>
            <a:r>
              <a:rPr sz="2400" b="0" i="0">
                <a:solidFill>
                  <a:srgbClr val="1F2633"/>
                </a:solidFill>
                <a:latin typeface="Arial"/>
              </a:rPr>
              <a:t> que a persistência nos três horizontes.</a:t>
            </a:r>
          </a:p>
          <a:p>
            <a:pPr algn="l" marL="252000" indent="-252000">
              <a:lnSpc>
                <a:spcPct val="108000"/>
              </a:lnSpc>
              <a:spcAft>
                <a:spcPts val="600"/>
              </a:spcAft>
              <a:buClr>
                <a:srgbClr val="D9661F"/>
              </a:buClr>
              <a:buFont typeface="Arial"/>
              <a:buChar char="■"/>
            </a:pPr>
            <a:r>
              <a:rPr sz="2400" b="0" i="0">
                <a:solidFill>
                  <a:srgbClr val="1F2633"/>
                </a:solidFill>
                <a:latin typeface="Arial"/>
              </a:rPr>
              <a:t>Em operação, o modelo 2h acompanhou a cheia de set/2026 com </a:t>
            </a:r>
            <a:r>
              <a:rPr sz="2400" b="1" i="0">
                <a:solidFill>
                  <a:srgbClr val="D9661F"/>
                </a:solidFill>
                <a:latin typeface="Arial"/>
              </a:rPr>
              <a:t>erro médio de 9 cm</a:t>
            </a:r>
            <a:r>
              <a:rPr sz="2400" b="0" i="0">
                <a:solidFill>
                  <a:srgbClr val="1F2633"/>
                </a:solidFill>
                <a:latin typeface="Arial"/>
              </a:rPr>
              <a:t>.</a:t>
            </a:r>
          </a:p>
        </p:txBody>
      </p:sp>
      <p:sp>
        <p:nvSpPr>
          <p:cNvPr id="50" name="Espaco QR code"/>
          <p:cNvSpPr/>
          <p:nvPr/>
        </p:nvSpPr>
        <p:spPr>
          <a:xfrm>
            <a:off x="18216000" y="31195744"/>
            <a:ext cx="2088000" cy="20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31750">
            <a:solidFill>
              <a:srgbClr val="2A378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5B6573"/>
                </a:solidFill>
                <a:latin typeface="Arial"/>
              </a:rPr>
              <a:t>QR CODE</a:t>
            </a:r>
          </a:p>
        </p:txBody>
      </p:sp>
      <p:sp>
        <p:nvSpPr>
          <p:cNvPr id="51" name="Chamada QR code"/>
          <p:cNvSpPr txBox="1"/>
          <p:nvPr/>
        </p:nvSpPr>
        <p:spPr>
          <a:xfrm>
            <a:off x="14904000" y="31627744"/>
            <a:ext cx="3096000" cy="12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600"/>
              </a:spcAft>
            </a:pPr>
            <a:r>
              <a:rPr sz="2800" b="1" i="0">
                <a:solidFill>
                  <a:srgbClr val="2A378D"/>
                </a:solidFill>
                <a:latin typeface="Arial"/>
              </a:rPr>
              <a:t>Dashboard</a:t>
            </a:r>
          </a:p>
          <a:p>
            <a:pPr algn="r">
              <a:lnSpc>
                <a:spcPct val="108000"/>
              </a:lnSpc>
              <a:spcAft>
                <a:spcPts val="600"/>
              </a:spcAft>
            </a:pPr>
            <a:r>
              <a:rPr sz="2800" b="1" i="0">
                <a:solidFill>
                  <a:srgbClr val="D9661F"/>
                </a:solidFill>
                <a:latin typeface="Arial"/>
              </a:rPr>
              <a:t>em tempo real →</a:t>
            </a:r>
          </a:p>
        </p:txBody>
      </p:sp>
      <p:sp>
        <p:nvSpPr>
          <p:cNvPr id="52" name="Referencias e agradecimentos"/>
          <p:cNvSpPr txBox="1"/>
          <p:nvPr/>
        </p:nvSpPr>
        <p:spPr>
          <a:xfrm>
            <a:off x="1080000" y="32796000"/>
            <a:ext cx="16920000" cy="50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5B6573"/>
                </a:solidFill>
                <a:latin typeface="Arial"/>
              </a:rPr>
              <a:t>Referências: </a:t>
            </a:r>
            <a:r>
              <a:rPr sz="1500" b="0" i="0">
                <a:solidFill>
                  <a:srgbClr val="5B6573"/>
                </a:solidFill>
                <a:latin typeface="Arial"/>
              </a:rPr>
              <a:t>ALVISI, S. et al. (2006). Hydrology and Earth System Sciences, 10(1), 1-17. · RUMELHART, D. E. et al. (1986). Nature, 323, 533-536. · KUMAR, V. et al. (2023). Sustainability, 15(13), 10543.   </a:t>
            </a:r>
            <a:r>
              <a:rPr sz="1500" b="1" i="0">
                <a:solidFill>
                  <a:srgbClr val="5B6573"/>
                </a:solidFill>
                <a:latin typeface="Arial"/>
              </a:rPr>
              <a:t>Agradecimentos: </a:t>
            </a:r>
            <a:r>
              <a:rPr sz="1500" b="0" i="0">
                <a:solidFill>
                  <a:srgbClr val="5B6573"/>
                </a:solidFill>
                <a:latin typeface="Arial"/>
              </a:rPr>
              <a:t>FAPERGS (processos 24/2551-0002124-8 e 25/2551-0002522-2).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339</TotalTime>
  <Words>48</Words>
  <Application>Microsoft Office PowerPoint</Application>
  <PresentationFormat>Personalizar</PresentationFormat>
  <Paragraphs>5</Paragraphs>
  <Slides>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7" baseType="lpstr">
      <vt:lpstr>Montserrat Medium</vt:lpstr>
      <vt:lpstr>Arial</vt:lpstr>
      <vt:lpstr>Montserrat Bold</vt:lpstr>
      <vt:lpstr>Calibri</vt:lpstr>
      <vt:lpstr>Montaser Arabic</vt:lpstr>
      <vt:lpstr>Office Theme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II Encontro Brasileiro de Hidrologia Estatística</dc:title>
  <dc:creator>fdn</dc:creator>
  <cp:lastModifiedBy>Juliana Reis</cp:lastModifiedBy>
  <cp:revision>6</cp:revision>
  <dcterms:created xsi:type="dcterms:W3CDTF">2006-08-16T00:00:00Z</dcterms:created>
  <dcterms:modified xsi:type="dcterms:W3CDTF">2026-10-02T18:56:34Z</dcterms:modified>
  <dc:identifier>DAHU89s2k0A</dc:identifier>
</cp:coreProperties>
</file>